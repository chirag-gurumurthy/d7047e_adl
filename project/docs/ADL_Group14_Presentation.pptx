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6858000" cx="1218895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16" roundtripDataSignature="AMtx7mjQNimJtn7j9CMd0QItbe+Ax6wte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6"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t>OVERVIEW</a:t>
            </a:r>
            <a:endParaRPr/>
          </a:p>
          <a:p>
            <a:pPr indent="0" lvl="0" marL="0" rtl="0" algn="l">
              <a:spcBef>
                <a:spcPts val="0"/>
              </a:spcBef>
              <a:spcAft>
                <a:spcPts val="0"/>
              </a:spcAft>
              <a:buClr>
                <a:schemeClr val="dk1"/>
              </a:buClr>
              <a:buSzPts val="1100"/>
              <a:buFont typeface="Arial"/>
              <a:buNone/>
            </a:pPr>
            <a:r>
              <a:rPr lang="en-US"/>
              <a:t>--------</a:t>
            </a:r>
            <a:endParaRPr/>
          </a:p>
          <a:p>
            <a:pPr indent="0" lvl="0" marL="0" rtl="0" algn="l">
              <a:spcBef>
                <a:spcPts val="0"/>
              </a:spcBef>
              <a:spcAft>
                <a:spcPts val="0"/>
              </a:spcAft>
              <a:buClr>
                <a:schemeClr val="dk1"/>
              </a:buClr>
              <a:buSzPts val="1100"/>
              <a:buFont typeface="Arial"/>
              <a:buNone/>
            </a:pPr>
            <a:r>
              <a:rPr lang="en-US"/>
              <a:t>We train neural networks to detect and classify cross-out marks on</a:t>
            </a:r>
            <a:endParaRPr/>
          </a:p>
          <a:p>
            <a:pPr indent="0" lvl="0" marL="0" rtl="0" algn="l">
              <a:spcBef>
                <a:spcPts val="0"/>
              </a:spcBef>
              <a:spcAft>
                <a:spcPts val="0"/>
              </a:spcAft>
              <a:buClr>
                <a:schemeClr val="dk1"/>
              </a:buClr>
              <a:buSzPts val="1100"/>
              <a:buFont typeface="Arial"/>
              <a:buNone/>
            </a:pPr>
            <a:r>
              <a:rPr lang="en-US"/>
              <a:t>handwritten word images. Two classification tasks: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  Task 1 — Binary:      Is the word crossed out or not? (2 classes)</a:t>
            </a:r>
            <a:endParaRPr/>
          </a:p>
          <a:p>
            <a:pPr indent="0" lvl="0" marL="0" rtl="0" algn="l">
              <a:spcBef>
                <a:spcPts val="0"/>
              </a:spcBef>
              <a:spcAft>
                <a:spcPts val="0"/>
              </a:spcAft>
              <a:buClr>
                <a:schemeClr val="dk1"/>
              </a:buClr>
              <a:buSzPts val="1100"/>
              <a:buFont typeface="Arial"/>
              <a:buNone/>
            </a:pPr>
            <a:r>
              <a:rPr lang="en-US"/>
              <a:t>  Task 2 — Multi-class: Which cross-out style is it?    (8 classes)</a:t>
            </a:r>
            <a:endParaRPr/>
          </a:p>
          <a:p>
            <a:pPr indent="0" lvl="0" marL="0" rtl="0" algn="l">
              <a:spcBef>
                <a:spcPts val="0"/>
              </a:spcBef>
              <a:spcAft>
                <a:spcPts val="0"/>
              </a:spcAft>
              <a:buClr>
                <a:schemeClr val="dk1"/>
              </a:buClr>
              <a:buSzPts val="1100"/>
              <a:buFont typeface="Arial"/>
              <a:buNone/>
            </a:pPr>
            <a:r>
              <a:rPr lang="en-US"/>
              <a:t>  Task 3 — Custom-50:   How well does the model work on real photos?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94" name="Google Shape;94;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t>DATASET (IAM Cross-out)</a:t>
            </a:r>
            <a:endParaRPr/>
          </a:p>
          <a:p>
            <a:pPr indent="0" lvl="0" marL="0" rtl="0" algn="l">
              <a:spcBef>
                <a:spcPts val="0"/>
              </a:spcBef>
              <a:spcAft>
                <a:spcPts val="0"/>
              </a:spcAft>
              <a:buClr>
                <a:schemeClr val="dk1"/>
              </a:buClr>
              <a:buSzPts val="1100"/>
              <a:buFont typeface="Arial"/>
              <a:buNone/>
            </a:pPr>
            <a:r>
              <a:rPr lang="en-US"/>
              <a:t>-----------------------</a:t>
            </a:r>
            <a:endParaRPr/>
          </a:p>
          <a:p>
            <a:pPr indent="0" lvl="0" marL="0" rtl="0" algn="l">
              <a:spcBef>
                <a:spcPts val="0"/>
              </a:spcBef>
              <a:spcAft>
                <a:spcPts val="0"/>
              </a:spcAft>
              <a:buClr>
                <a:schemeClr val="dk1"/>
              </a:buClr>
              <a:buSzPts val="1100"/>
              <a:buFont typeface="Arial"/>
              <a:buNone/>
            </a:pPr>
            <a:r>
              <a:rPr lang="en-US"/>
              <a:t>Source: IAM Handwriting Database with synthetic cross-outs added on top.</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~48,000 word images per class, pre-split into train / val / test.</a:t>
            </a:r>
            <a:endParaRPr/>
          </a:p>
          <a:p>
            <a:pPr indent="0" lvl="0" marL="0" rtl="0" algn="l">
              <a:spcBef>
                <a:spcPts val="0"/>
              </a:spcBef>
              <a:spcAft>
                <a:spcPts val="0"/>
              </a:spcAft>
              <a:buClr>
                <a:schemeClr val="dk1"/>
              </a:buClr>
              <a:buSzPts val="1100"/>
              <a:buFont typeface="Arial"/>
              <a:buNone/>
            </a:pPr>
            <a:r>
              <a:rPr lang="en-US"/>
              <a:t>Image size: ~27x51 px, grayscale, black ink on white background.</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8 categories:</a:t>
            </a:r>
            <a:endParaRPr/>
          </a:p>
          <a:p>
            <a:pPr indent="0" lvl="0" marL="0" rtl="0" algn="l">
              <a:spcBef>
                <a:spcPts val="0"/>
              </a:spcBef>
              <a:spcAft>
                <a:spcPts val="0"/>
              </a:spcAft>
              <a:buClr>
                <a:schemeClr val="dk1"/>
              </a:buClr>
              <a:buSzPts val="1100"/>
              <a:buFont typeface="Arial"/>
              <a:buNone/>
            </a:pPr>
            <a:r>
              <a:rPr lang="en-US"/>
              <a:t>  CLEAN        no cross-out (baseline)</a:t>
            </a:r>
            <a:endParaRPr/>
          </a:p>
          <a:p>
            <a:pPr indent="0" lvl="0" marL="0" rtl="0" algn="l">
              <a:spcBef>
                <a:spcPts val="0"/>
              </a:spcBef>
              <a:spcAft>
                <a:spcPts val="0"/>
              </a:spcAft>
              <a:buClr>
                <a:schemeClr val="dk1"/>
              </a:buClr>
              <a:buSzPts val="1100"/>
              <a:buFont typeface="Arial"/>
              <a:buNone/>
            </a:pPr>
            <a:r>
              <a:rPr lang="en-US"/>
              <a:t>  SINGLE_LINE  one horizontal line through the word</a:t>
            </a:r>
            <a:endParaRPr/>
          </a:p>
          <a:p>
            <a:pPr indent="0" lvl="0" marL="0" rtl="0" algn="l">
              <a:spcBef>
                <a:spcPts val="0"/>
              </a:spcBef>
              <a:spcAft>
                <a:spcPts val="0"/>
              </a:spcAft>
              <a:buClr>
                <a:schemeClr val="dk1"/>
              </a:buClr>
              <a:buSzPts val="1100"/>
              <a:buFont typeface="Arial"/>
              <a:buNone/>
            </a:pPr>
            <a:r>
              <a:rPr lang="en-US"/>
              <a:t>  DOUBLE_LINE  two parallel horizontal lines</a:t>
            </a:r>
            <a:endParaRPr/>
          </a:p>
          <a:p>
            <a:pPr indent="0" lvl="0" marL="0" rtl="0" algn="l">
              <a:spcBef>
                <a:spcPts val="0"/>
              </a:spcBef>
              <a:spcAft>
                <a:spcPts val="0"/>
              </a:spcAft>
              <a:buClr>
                <a:schemeClr val="dk1"/>
              </a:buClr>
              <a:buSzPts val="1100"/>
              <a:buFont typeface="Arial"/>
              <a:buNone/>
            </a:pPr>
            <a:r>
              <a:rPr lang="en-US"/>
              <a:t>  DIAGONAL     one diagonal line</a:t>
            </a:r>
            <a:endParaRPr/>
          </a:p>
          <a:p>
            <a:pPr indent="0" lvl="0" marL="0" rtl="0" algn="l">
              <a:spcBef>
                <a:spcPts val="0"/>
              </a:spcBef>
              <a:spcAft>
                <a:spcPts val="0"/>
              </a:spcAft>
              <a:buClr>
                <a:schemeClr val="dk1"/>
              </a:buClr>
              <a:buSzPts val="1100"/>
              <a:buFont typeface="Arial"/>
              <a:buNone/>
            </a:pPr>
            <a:r>
              <a:rPr lang="en-US"/>
              <a:t>  CROSS        two crossing lines forming an X</a:t>
            </a:r>
            <a:endParaRPr/>
          </a:p>
          <a:p>
            <a:pPr indent="0" lvl="0" marL="0" rtl="0" algn="l">
              <a:spcBef>
                <a:spcPts val="0"/>
              </a:spcBef>
              <a:spcAft>
                <a:spcPts val="0"/>
              </a:spcAft>
              <a:buClr>
                <a:schemeClr val="dk1"/>
              </a:buClr>
              <a:buSzPts val="1100"/>
              <a:buFont typeface="Arial"/>
              <a:buNone/>
            </a:pPr>
            <a:r>
              <a:rPr lang="en-US"/>
              <a:t>  WAVE         a wavy horizontal line</a:t>
            </a:r>
            <a:endParaRPr/>
          </a:p>
          <a:p>
            <a:pPr indent="0" lvl="0" marL="0" rtl="0" algn="l">
              <a:spcBef>
                <a:spcPts val="0"/>
              </a:spcBef>
              <a:spcAft>
                <a:spcPts val="0"/>
              </a:spcAft>
              <a:buClr>
                <a:schemeClr val="dk1"/>
              </a:buClr>
              <a:buSzPts val="1100"/>
              <a:buFont typeface="Arial"/>
              <a:buNone/>
            </a:pPr>
            <a:r>
              <a:rPr lang="en-US"/>
              <a:t>  ZIG_ZAG      zig-zag line</a:t>
            </a:r>
            <a:endParaRPr/>
          </a:p>
          <a:p>
            <a:pPr indent="0" lvl="0" marL="0" rtl="0" algn="l">
              <a:spcBef>
                <a:spcPts val="0"/>
              </a:spcBef>
              <a:spcAft>
                <a:spcPts val="0"/>
              </a:spcAft>
              <a:buClr>
                <a:schemeClr val="dk1"/>
              </a:buClr>
              <a:buSzPts val="1100"/>
              <a:buFont typeface="Arial"/>
              <a:buNone/>
            </a:pPr>
            <a:r>
              <a:rPr lang="en-US"/>
              <a:t>  SCRATCH      heavy scribbling covering the word</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 MIXED: randomly chosen style per image — used only in binary Task 1</a:t>
            </a:r>
            <a:endParaRPr/>
          </a:p>
          <a:p>
            <a:pPr indent="0" lvl="0" marL="0" rtl="0" algn="l">
              <a:spcBef>
                <a:spcPts val="0"/>
              </a:spcBef>
              <a:spcAft>
                <a:spcPts val="0"/>
              </a:spcAft>
              <a:buClr>
                <a:schemeClr val="dk1"/>
              </a:buClr>
              <a:buSzPts val="1100"/>
              <a:buFont typeface="Arial"/>
              <a:buNone/>
            </a:pPr>
            <a:r>
              <a:rPr lang="en-US"/>
              <a:t>         (it is crossed-out, but not a classifiable style for Task 2)</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The dataset is PAIRED: the exact same word image appears in every category</a:t>
            </a:r>
            <a:endParaRPr/>
          </a:p>
          <a:p>
            <a:pPr indent="0" lvl="0" marL="0" rtl="0" algn="l">
              <a:spcBef>
                <a:spcPts val="0"/>
              </a:spcBef>
              <a:spcAft>
                <a:spcPts val="0"/>
              </a:spcAft>
              <a:buClr>
                <a:schemeClr val="dk1"/>
              </a:buClr>
              <a:buSzPts val="1100"/>
              <a:buFont typeface="Arial"/>
              <a:buNone/>
            </a:pPr>
            <a:r>
              <a:rPr lang="en-US"/>
              <a:t>folder. e.g., "a01-000u-00-00.png" in CLEAN/ and in SINGLE_LINE/ is the</a:t>
            </a:r>
            <a:endParaRPr/>
          </a:p>
          <a:p>
            <a:pPr indent="0" lvl="0" marL="0" rtl="0" algn="l">
              <a:spcBef>
                <a:spcPts val="0"/>
              </a:spcBef>
              <a:spcAft>
                <a:spcPts val="0"/>
              </a:spcAft>
              <a:buClr>
                <a:schemeClr val="dk1"/>
              </a:buClr>
              <a:buSzPts val="1100"/>
              <a:buFont typeface="Arial"/>
              <a:buNone/>
            </a:pPr>
            <a:r>
              <a:rPr lang="en-US"/>
              <a:t>same word, with the cross-out drawn on top. This means every style was</a:t>
            </a:r>
            <a:endParaRPr/>
          </a:p>
          <a:p>
            <a:pPr indent="0" lvl="0" marL="0" rtl="0" algn="l">
              <a:spcBef>
                <a:spcPts val="0"/>
              </a:spcBef>
              <a:spcAft>
                <a:spcPts val="0"/>
              </a:spcAft>
              <a:buClr>
                <a:schemeClr val="dk1"/>
              </a:buClr>
              <a:buSzPts val="1100"/>
              <a:buFont typeface="Arial"/>
              <a:buNone/>
            </a:pPr>
            <a:r>
              <a:rPr lang="en-US"/>
              <a:t>applied to the same set of words — a controlled experiment.</a:t>
            </a:r>
            <a:endParaRPr/>
          </a:p>
          <a:p>
            <a:pPr indent="0" lvl="0" marL="0" rtl="0" algn="l">
              <a:spcBef>
                <a:spcPts val="0"/>
              </a:spcBef>
              <a:spcAft>
                <a:spcPts val="0"/>
              </a:spcAft>
              <a:buNone/>
            </a:pPr>
            <a:r>
              <a:t/>
            </a:r>
            <a:endParaRPr/>
          </a:p>
        </p:txBody>
      </p:sp>
      <p:sp>
        <p:nvSpPr>
          <p:cNvPr id="116" name="Google Shape;116;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Every image goes through the same pipeline before the model sees it: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Step 1 — Grayscale to 3-channel</a:t>
            </a:r>
            <a:endParaRPr/>
          </a:p>
          <a:p>
            <a:pPr indent="0" lvl="0" marL="0" rtl="0" algn="l">
              <a:spcBef>
                <a:spcPts val="0"/>
              </a:spcBef>
              <a:spcAft>
                <a:spcPts val="0"/>
              </a:spcAft>
              <a:buNone/>
            </a:pPr>
            <a:r>
              <a:rPr lang="en-US"/>
              <a:t>    The images are grayscale (1 channel). Pretrained models (ResNet, etc.)</a:t>
            </a:r>
            <a:endParaRPr/>
          </a:p>
          <a:p>
            <a:pPr indent="0" lvl="0" marL="0" rtl="0" algn="l">
              <a:spcBef>
                <a:spcPts val="0"/>
              </a:spcBef>
              <a:spcAft>
                <a:spcPts val="0"/>
              </a:spcAft>
              <a:buNone/>
            </a:pPr>
            <a:r>
              <a:rPr lang="en-US"/>
              <a:t>    expect 3 channels (RGB). We duplicate the grayscale channel 3 times.</a:t>
            </a:r>
            <a:endParaRPr/>
          </a:p>
          <a:p>
            <a:pPr indent="0" lvl="0" marL="0" rtl="0" algn="l">
              <a:spcBef>
                <a:spcPts val="0"/>
              </a:spcBef>
              <a:spcAft>
                <a:spcPts val="0"/>
              </a:spcAft>
              <a:buNone/>
            </a:pPr>
            <a:r>
              <a:rPr lang="en-US"/>
              <a:t>    No colour information is added — it is still effectively grayscale.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Step 2 — PadToSquare (fill=255 white)</a:t>
            </a:r>
            <a:endParaRPr/>
          </a:p>
          <a:p>
            <a:pPr indent="0" lvl="0" marL="0" rtl="0" algn="l">
              <a:spcBef>
                <a:spcPts val="0"/>
              </a:spcBef>
              <a:spcAft>
                <a:spcPts val="0"/>
              </a:spcAft>
              <a:buNone/>
            </a:pPr>
            <a:r>
              <a:rPr lang="en-US"/>
              <a:t>    Word images are wide and short (~382x73 px). If we resize directly to</a:t>
            </a:r>
            <a:endParaRPr/>
          </a:p>
          <a:p>
            <a:pPr indent="0" lvl="0" marL="0" rtl="0" algn="l">
              <a:spcBef>
                <a:spcPts val="0"/>
              </a:spcBef>
              <a:spcAft>
                <a:spcPts val="0"/>
              </a:spcAft>
              <a:buNone/>
            </a:pPr>
            <a:r>
              <a:rPr lang="en-US"/>
              <a:t>    224x224 the word gets stretched and distorted, which would also distort</a:t>
            </a:r>
            <a:endParaRPr/>
          </a:p>
          <a:p>
            <a:pPr indent="0" lvl="0" marL="0" rtl="0" algn="l">
              <a:spcBef>
                <a:spcPts val="0"/>
              </a:spcBef>
              <a:spcAft>
                <a:spcPts val="0"/>
              </a:spcAft>
              <a:buNone/>
            </a:pPr>
            <a:r>
              <a:rPr lang="en-US"/>
              <a:t>    the cross-out geometry (a diagonal would no longer look diagonal).</a:t>
            </a:r>
            <a:endParaRPr/>
          </a:p>
          <a:p>
            <a:pPr indent="0" lvl="0" marL="0" rtl="0" algn="l">
              <a:spcBef>
                <a:spcPts val="0"/>
              </a:spcBef>
              <a:spcAft>
                <a:spcPts val="0"/>
              </a:spcAft>
              <a:buNone/>
            </a:pPr>
            <a:r>
              <a:rPr lang="en-US"/>
              <a:t>    Instead we pad the shorter side symmetrically with white pixels to make</a:t>
            </a:r>
            <a:endParaRPr/>
          </a:p>
          <a:p>
            <a:pPr indent="0" lvl="0" marL="0" rtl="0" algn="l">
              <a:spcBef>
                <a:spcPts val="0"/>
              </a:spcBef>
              <a:spcAft>
                <a:spcPts val="0"/>
              </a:spcAft>
              <a:buNone/>
            </a:pPr>
            <a:r>
              <a:rPr lang="en-US"/>
              <a:t>    it square first, then resize.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Step 3 — Resize to 224x224</a:t>
            </a:r>
            <a:endParaRPr/>
          </a:p>
          <a:p>
            <a:pPr indent="0" lvl="0" marL="0" rtl="0" algn="l">
              <a:spcBef>
                <a:spcPts val="0"/>
              </a:spcBef>
              <a:spcAft>
                <a:spcPts val="0"/>
              </a:spcAft>
              <a:buNone/>
            </a:pPr>
            <a:r>
              <a:rPr lang="en-US"/>
              <a:t>    Required input size for ResNet-50, EfficientNet-B0 and ViT-B/16.</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Step 4 — ToTensor</a:t>
            </a:r>
            <a:endParaRPr/>
          </a:p>
          <a:p>
            <a:pPr indent="0" lvl="0" marL="0" rtl="0" algn="l">
              <a:spcBef>
                <a:spcPts val="0"/>
              </a:spcBef>
              <a:spcAft>
                <a:spcPts val="0"/>
              </a:spcAft>
              <a:buNone/>
            </a:pPr>
            <a:r>
              <a:rPr lang="en-US"/>
              <a:t>    Converts PIL image (0-255 integers) to a PyTorch float tensor (0.0-1.0).</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Step 5 — Normalize with ImageNet statistics</a:t>
            </a:r>
            <a:endParaRPr/>
          </a:p>
          <a:p>
            <a:pPr indent="0" lvl="0" marL="0" rtl="0" algn="l">
              <a:spcBef>
                <a:spcPts val="0"/>
              </a:spcBef>
              <a:spcAft>
                <a:spcPts val="0"/>
              </a:spcAft>
              <a:buNone/>
            </a:pPr>
            <a:r>
              <a:rPr lang="en-US"/>
              <a:t>    Mean: [0.485, 0.456, 0.406]</a:t>
            </a:r>
            <a:endParaRPr/>
          </a:p>
          <a:p>
            <a:pPr indent="0" lvl="0" marL="0" rtl="0" algn="l">
              <a:spcBef>
                <a:spcPts val="0"/>
              </a:spcBef>
              <a:spcAft>
                <a:spcPts val="0"/>
              </a:spcAft>
              <a:buNone/>
            </a:pPr>
            <a:r>
              <a:rPr lang="en-US"/>
              <a:t>    Std:  [0.229, 0.224, 0.225]</a:t>
            </a:r>
            <a:endParaRPr/>
          </a:p>
          <a:p>
            <a:pPr indent="0" lvl="0" marL="0" rtl="0" algn="l">
              <a:spcBef>
                <a:spcPts val="0"/>
              </a:spcBef>
              <a:spcAft>
                <a:spcPts val="0"/>
              </a:spcAft>
              <a:buNone/>
            </a:pPr>
            <a:r>
              <a:rPr lang="en-US"/>
              <a:t>    Pretrained models were trained with this normalization. Using the same</a:t>
            </a:r>
            <a:endParaRPr/>
          </a:p>
          <a:p>
            <a:pPr indent="0" lvl="0" marL="0" rtl="0" algn="l">
              <a:spcBef>
                <a:spcPts val="0"/>
              </a:spcBef>
              <a:spcAft>
                <a:spcPts val="0"/>
              </a:spcAft>
              <a:buNone/>
            </a:pPr>
            <a:r>
              <a:rPr lang="en-US"/>
              <a:t>    normalization keeps the input distribution consistent with what the</a:t>
            </a:r>
            <a:endParaRPr/>
          </a:p>
          <a:p>
            <a:pPr indent="0" lvl="0" marL="0" rtl="0" algn="l">
              <a:spcBef>
                <a:spcPts val="0"/>
              </a:spcBef>
              <a:spcAft>
                <a:spcPts val="0"/>
              </a:spcAft>
              <a:buNone/>
            </a:pPr>
            <a:r>
              <a:rPr lang="en-US"/>
              <a:t>    pretrained weights expect.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Training only (augmentation to improve generalization):</a:t>
            </a:r>
            <a:endParaRPr/>
          </a:p>
          <a:p>
            <a:pPr indent="0" lvl="0" marL="0" rtl="0" algn="l">
              <a:spcBef>
                <a:spcPts val="0"/>
              </a:spcBef>
              <a:spcAft>
                <a:spcPts val="0"/>
              </a:spcAft>
              <a:buNone/>
            </a:pPr>
            <a:r>
              <a:rPr lang="en-US"/>
              <a:t>  RandomRotation(±5°)            — simulates slightly tilted paper or camera angle</a:t>
            </a:r>
            <a:endParaRPr/>
          </a:p>
          <a:p>
            <a:pPr indent="0" lvl="0" marL="0" rtl="0" algn="l">
              <a:spcBef>
                <a:spcPts val="0"/>
              </a:spcBef>
              <a:spcAft>
                <a:spcPts val="0"/>
              </a:spcAft>
              <a:buNone/>
            </a:pPr>
            <a:r>
              <a:rPr lang="en-US"/>
              <a:t>  RandomAffine(translate=5%)     — slight position shift for positional robustness</a:t>
            </a:r>
            <a:endParaRPr/>
          </a:p>
          <a:p>
            <a:pPr indent="0" lvl="0" marL="0" rtl="0" algn="l">
              <a:spcBef>
                <a:spcPts val="0"/>
              </a:spcBef>
              <a:spcAft>
                <a:spcPts val="0"/>
              </a:spcAft>
              <a:buNone/>
            </a:pPr>
            <a:r>
              <a:rPr lang="en-US"/>
              <a:t>  Note: RandomHorizontalFlip is NOT used — flipping changes the visual meaning</a:t>
            </a:r>
            <a:endParaRPr/>
          </a:p>
          <a:p>
            <a:pPr indent="0" lvl="0" marL="0" rtl="0" algn="l">
              <a:spcBef>
                <a:spcPts val="0"/>
              </a:spcBef>
              <a:spcAft>
                <a:spcPts val="0"/>
              </a:spcAft>
              <a:buNone/>
            </a:pPr>
            <a:r>
              <a:rPr lang="en-US"/>
              <a:t>  of cross-out styles (e.g. a diagonal would mirror direction).</a:t>
            </a:r>
            <a:endParaRPr/>
          </a:p>
          <a:p>
            <a:pPr indent="0" lvl="0" marL="0" rtl="0" algn="l">
              <a:spcBef>
                <a:spcPts val="0"/>
              </a:spcBef>
              <a:spcAft>
                <a:spcPts val="0"/>
              </a:spcAft>
              <a:buNone/>
            </a:pPr>
            <a:r>
              <a:rPr lang="en-US"/>
              <a:t>Val / test / custom-50: no augmentation — deterministic transforms only.</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70" name="Google Shape;170;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cks 3–4 deliberately skip pooling to preserve spatial detail needed to distinguish fine-grained patterns like Wave vs Zig-Zag. BatchNorm after every conv stabilises training.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**Trainable parameters:** 7.07M</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**What each component does:**</a:t>
            </a:r>
            <a:endParaRPr/>
          </a:p>
          <a:p>
            <a:pPr indent="0" lvl="0" marL="0" rtl="0" algn="l">
              <a:spcBef>
                <a:spcPts val="0"/>
              </a:spcBef>
              <a:spcAft>
                <a:spcPts val="0"/>
              </a:spcAft>
              <a:buNone/>
            </a:pPr>
            <a:r>
              <a:rPr lang="en-US"/>
              <a:t>- **Conv2d** — a filter (small grid of learned numbers) slides across the image and computes a dot product at each position, detecting local patterns: edges, lines, curves. With 32 filters in layer 1, it learns 32 different pattern detectors simultaneously.</a:t>
            </a:r>
            <a:endParaRPr/>
          </a:p>
          <a:p>
            <a:pPr indent="0" lvl="0" marL="0" rtl="0" algn="l">
              <a:spcBef>
                <a:spcPts val="0"/>
              </a:spcBef>
              <a:spcAft>
                <a:spcPts val="0"/>
              </a:spcAft>
              <a:buNone/>
            </a:pPr>
            <a:r>
              <a:rPr lang="en-US"/>
              <a:t>- **BatchNorm** — normalises activations after each layer, making training more stable and acting as regularisation.</a:t>
            </a:r>
            <a:endParaRPr/>
          </a:p>
          <a:p>
            <a:pPr indent="0" lvl="0" marL="0" rtl="0" algn="l">
              <a:spcBef>
                <a:spcPts val="0"/>
              </a:spcBef>
              <a:spcAft>
                <a:spcPts val="0"/>
              </a:spcAft>
              <a:buNone/>
            </a:pPr>
            <a:r>
              <a:rPr lang="en-US"/>
              <a:t>- **ReLU** — sets all negative values to 0; introduces non-linearity (without it, stacking layers would be equivalent to a single linear transformation).</a:t>
            </a:r>
            <a:endParaRPr/>
          </a:p>
          <a:p>
            <a:pPr indent="0" lvl="0" marL="0" rtl="0" algn="l">
              <a:spcBef>
                <a:spcPts val="0"/>
              </a:spcBef>
              <a:spcAft>
                <a:spcPts val="0"/>
              </a:spcAft>
              <a:buNone/>
            </a:pPr>
            <a:r>
              <a:rPr lang="en-US"/>
              <a:t>- **MaxPool** — takes the maximum value in each 2×2 region, halving the spatial size; makes features slightly position-invariant and reduces computation.</a:t>
            </a:r>
            <a:endParaRPr/>
          </a:p>
          <a:p>
            <a:pPr indent="0" lvl="0" marL="0" rtl="0" algn="l">
              <a:spcBef>
                <a:spcPts val="0"/>
              </a:spcBef>
              <a:spcAft>
                <a:spcPts val="0"/>
              </a:spcAft>
              <a:buNone/>
            </a:pPr>
            <a:r>
              <a:rPr lang="en-US"/>
              <a:t>- **AdaptiveAvgPool** — resizes the feature map to a fixed output size regardless of input dimensions.</a:t>
            </a:r>
            <a:endParaRPr/>
          </a:p>
          <a:p>
            <a:pPr indent="0" lvl="0" marL="0" rtl="0" algn="l">
              <a:spcBef>
                <a:spcPts val="0"/>
              </a:spcBef>
              <a:spcAft>
                <a:spcPts val="0"/>
              </a:spcAft>
              <a:buNone/>
            </a:pPr>
            <a:r>
              <a:rPr lang="en-US"/>
              <a:t>- **Dropout** — during training, randomly zeros a fraction of activations; forces the network not to rely on any single neuron (reduces overfitting).</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Pre-trained on ImageNet. `layer4` (the final residual block) and the classification head are unfrozen: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Frozen: conv1 → layer1 → layer2 → layer3     [~17M params, fixed]</a:t>
            </a:r>
            <a:endParaRPr/>
          </a:p>
          <a:p>
            <a:pPr indent="0" lvl="0" marL="0" rtl="0" algn="l">
              <a:spcBef>
                <a:spcPts val="0"/>
              </a:spcBef>
              <a:spcAft>
                <a:spcPts val="0"/>
              </a:spcAft>
              <a:buNone/>
            </a:pPr>
            <a:r>
              <a:rPr lang="en-US"/>
              <a:t>Unfrozen: layer4                               [~8.4M params, fine-tuned]</a:t>
            </a:r>
            <a:endParaRPr/>
          </a:p>
          <a:p>
            <a:pPr indent="0" lvl="0" marL="0" rtl="0" algn="l">
              <a:spcBef>
                <a:spcPts val="0"/>
              </a:spcBef>
              <a:spcAft>
                <a:spcPts val="0"/>
              </a:spcAft>
              <a:buNone/>
            </a:pPr>
            <a:r>
              <a:rPr lang="en-US"/>
              <a:t>New head: Linear(2048→512) → ReLU → Dropout(0.3) → Linear(512→8)</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Pre-trained on ImageNet. `layer4` (the final residual block) and the classification head are unfrozen: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Frozen: conv1 → layer1 → layer2 → layer3     [~17M params, fixed]</a:t>
            </a:r>
            <a:endParaRPr/>
          </a:p>
          <a:p>
            <a:pPr indent="0" lvl="0" marL="0" rtl="0" algn="l">
              <a:spcBef>
                <a:spcPts val="0"/>
              </a:spcBef>
              <a:spcAft>
                <a:spcPts val="0"/>
              </a:spcAft>
              <a:buNone/>
            </a:pPr>
            <a:r>
              <a:rPr lang="en-US"/>
              <a:t>Unfrozen: layer4                               [~8.4M params, fine-tuned]</a:t>
            </a:r>
            <a:endParaRPr/>
          </a:p>
          <a:p>
            <a:pPr indent="0" lvl="0" marL="0" rtl="0" algn="l">
              <a:spcBef>
                <a:spcPts val="0"/>
              </a:spcBef>
              <a:spcAft>
                <a:spcPts val="0"/>
              </a:spcAft>
              <a:buNone/>
            </a:pPr>
            <a:r>
              <a:rPr lang="en-US"/>
              <a:t>New head: Linear(2048→512) → ReLU → Dropout(0.3) → Linear(512→8)</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**Residual connections** (what makes ResNet special):</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Standard CNN:  x → Conv → Conv → output</a:t>
            </a:r>
            <a:endParaRPr/>
          </a:p>
          <a:p>
            <a:pPr indent="0" lvl="0" marL="0" rtl="0" algn="l">
              <a:spcBef>
                <a:spcPts val="0"/>
              </a:spcBef>
              <a:spcAft>
                <a:spcPts val="0"/>
              </a:spcAft>
              <a:buNone/>
            </a:pPr>
            <a:r>
              <a:rPr lang="en-US"/>
              <a:t>ResNet:        x → Conv → Conv → output + x   (skip connection)</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The `+ x` (adding the input directly to the output) solves the vanishing gradient problem in very deep networks. Gradients can flow back through the skip connection without passing through all conv layers, enabling training of 50+ layer networks.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Unfreezing `layer4` lets the model adapt high-level features (shapes, stroke patterns) specific to cross-outs, while the frozen lower layers retain universal edge/texture detectors.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en-US"/>
              <a:t>— Suresh–</a:t>
            </a:r>
            <a:br>
              <a:rPr lang="en-US"/>
            </a:br>
            <a:br>
              <a:rPr lang="en-US"/>
            </a:br>
            <a:r>
              <a:rPr lang="en-US"/>
              <a:t>We have trialled the CNN, Resnet and VitB-16, and we can see from the </a:t>
            </a:r>
            <a:r>
              <a:rPr lang="en-US"/>
              <a:t>training</a:t>
            </a:r>
            <a:r>
              <a:rPr lang="en-US"/>
              <a:t> curves that CNN has slight edge and we have the test/trainign results for IAM and Custom data set</a:t>
            </a:r>
            <a:endParaRPr/>
          </a:p>
        </p:txBody>
      </p:sp>
      <p:sp>
        <p:nvSpPr>
          <p:cNvPr id="212" name="Google Shape;212;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As, we see we tried CNN, Resnet and ViT, but after few </a:t>
            </a:r>
            <a:r>
              <a:rPr lang="en-US"/>
              <a:t>epochs</a:t>
            </a:r>
            <a:r>
              <a:rPr lang="en-US"/>
              <a:t> we could clearly see CNN in performing well and we wanted to pick it as we can to use the same model for the CNN multiclass, we can see teh F1-scores and VIT slightly performed better on the Custom </a:t>
            </a:r>
            <a:r>
              <a:rPr lang="en-US"/>
              <a:t>dataset</a:t>
            </a:r>
            <a:r>
              <a:rPr lang="en-US"/>
              <a:t> but not significantly, so we sticked to CNN.</a:t>
            </a:r>
            <a:endParaRPr/>
          </a:p>
        </p:txBody>
      </p:sp>
      <p:sp>
        <p:nvSpPr>
          <p:cNvPr id="247" name="Google Shape;247;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Same as in SimpleCNN binary class, except for the linear classification layer which is 8 corresponding to our cross-out variants</a:t>
            </a:r>
            <a:endParaRPr/>
          </a:p>
        </p:txBody>
      </p:sp>
      <p:sp>
        <p:nvSpPr>
          <p:cNvPr id="259" name="Google Shape;259;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Both CNN and ResNet val/accuracy training dynamics are similar, though resnet trained faster, but both were close in accuracy and didn’t improve past 90% margin. As we can see from Confusion Matrix Resnet  confuses and defaults to Double line whereas CNN goes to Clean, this double line prediction for Resnet could be fact of its bias for double line features from the imagenet training weights. we prefer CNN though it has a slight edge, but we can improve the model possibly by trying out different dropout rate etc but we concluded at this point that due to the training length and for achieving fairly well accuracy</a:t>
            </a:r>
            <a:endParaRPr/>
          </a:p>
        </p:txBody>
      </p:sp>
      <p:sp>
        <p:nvSpPr>
          <p:cNvPr id="310" name="Google Shape;310;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1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1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1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1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1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1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1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0"/>
          <p:cNvSpPr/>
          <p:nvPr>
            <p:ph idx="2" type="pic"/>
          </p:nvPr>
        </p:nvSpPr>
        <p:spPr>
          <a:xfrm>
            <a:off x="1792288" y="612775"/>
            <a:ext cx="5486400" cy="4114800"/>
          </a:xfrm>
          <a:prstGeom prst="rect">
            <a:avLst/>
          </a:prstGeom>
          <a:noFill/>
          <a:ln>
            <a:noFill/>
          </a:ln>
        </p:spPr>
      </p:sp>
      <p:sp>
        <p:nvSpPr>
          <p:cNvPr id="64" name="Google Shape;64;p2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6.png"/><Relationship Id="rId4" Type="http://schemas.openxmlformats.org/officeDocument/2006/relationships/image" Target="../media/image3.png"/><Relationship Id="rId5"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p:nvPr/>
        </p:nvSpPr>
        <p:spPr>
          <a:xfrm>
            <a:off x="0" y="0"/>
            <a:ext cx="12188952" cy="6858000"/>
          </a:xfrm>
          <a:prstGeom prst="rect">
            <a:avLst/>
          </a:prstGeom>
          <a:solidFill>
            <a:srgbClr val="00357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5" name="Google Shape;85;p1"/>
          <p:cNvSpPr/>
          <p:nvPr/>
        </p:nvSpPr>
        <p:spPr>
          <a:xfrm>
            <a:off x="0" y="5029200"/>
            <a:ext cx="12188952" cy="1828800"/>
          </a:xfrm>
          <a:prstGeom prst="rect">
            <a:avLst/>
          </a:prstGeom>
          <a:solidFill>
            <a:srgbClr val="00285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6" name="Google Shape;86;p1"/>
          <p:cNvSpPr/>
          <p:nvPr/>
        </p:nvSpPr>
        <p:spPr>
          <a:xfrm>
            <a:off x="0" y="2926080"/>
            <a:ext cx="12188952" cy="54864"/>
          </a:xfrm>
          <a:prstGeom prst="rect">
            <a:avLst/>
          </a:prstGeom>
          <a:solidFill>
            <a:srgbClr val="009BD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7" name="Google Shape;87;p1"/>
          <p:cNvSpPr txBox="1"/>
          <p:nvPr/>
        </p:nvSpPr>
        <p:spPr>
          <a:xfrm>
            <a:off x="731520" y="914400"/>
            <a:ext cx="10698480" cy="7315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800" u="none" cap="none" strike="noStrike">
                <a:solidFill>
                  <a:srgbClr val="009BDE"/>
                </a:solidFill>
                <a:latin typeface="Calibri"/>
                <a:ea typeface="Calibri"/>
                <a:cs typeface="Calibri"/>
                <a:sym typeface="Calibri"/>
              </a:rPr>
              <a:t>Identification and Classification of</a:t>
            </a:r>
            <a:endParaRPr/>
          </a:p>
        </p:txBody>
      </p:sp>
      <p:sp>
        <p:nvSpPr>
          <p:cNvPr id="88" name="Google Shape;88;p1"/>
          <p:cNvSpPr txBox="1"/>
          <p:nvPr/>
        </p:nvSpPr>
        <p:spPr>
          <a:xfrm>
            <a:off x="731520" y="1600200"/>
            <a:ext cx="10698480" cy="8229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u="none" cap="none" strike="noStrike">
                <a:solidFill>
                  <a:srgbClr val="FFFFFF"/>
                </a:solidFill>
                <a:latin typeface="Calibri"/>
                <a:ea typeface="Calibri"/>
                <a:cs typeface="Calibri"/>
                <a:sym typeface="Calibri"/>
              </a:rPr>
              <a:t>Cross-outs in Handwritten Documents</a:t>
            </a:r>
            <a:endParaRPr/>
          </a:p>
        </p:txBody>
      </p:sp>
      <p:sp>
        <p:nvSpPr>
          <p:cNvPr id="89" name="Google Shape;89;p1"/>
          <p:cNvSpPr txBox="1"/>
          <p:nvPr/>
        </p:nvSpPr>
        <p:spPr>
          <a:xfrm>
            <a:off x="731520" y="2468880"/>
            <a:ext cx="10698480" cy="4114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600" u="none" cap="none" strike="noStrike">
                <a:solidFill>
                  <a:srgbClr val="009BDE"/>
                </a:solidFill>
                <a:latin typeface="Calibri"/>
                <a:ea typeface="Calibri"/>
                <a:cs typeface="Calibri"/>
                <a:sym typeface="Calibri"/>
              </a:rPr>
              <a:t>D7047E — Advanced Deep Learning  |  Group 14</a:t>
            </a:r>
            <a:endParaRPr/>
          </a:p>
        </p:txBody>
      </p:sp>
      <p:sp>
        <p:nvSpPr>
          <p:cNvPr id="90" name="Google Shape;90;p1"/>
          <p:cNvSpPr txBox="1"/>
          <p:nvPr/>
        </p:nvSpPr>
        <p:spPr>
          <a:xfrm>
            <a:off x="731520" y="5166360"/>
            <a:ext cx="10698480" cy="8229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FFFFFF"/>
                </a:solidFill>
                <a:latin typeface="Calibri"/>
                <a:ea typeface="Calibri"/>
                <a:cs typeface="Calibri"/>
                <a:sym typeface="Calibri"/>
              </a:rPr>
              <a:t>Suresh Balaraman  ·  Nagarajan Ganesan  ·  Chirag Gurumurthy</a:t>
            </a:r>
            <a:br>
              <a:rPr b="0" i="0" lang="en-US" sz="1400" u="none" cap="none" strike="noStrike">
                <a:solidFill>
                  <a:srgbClr val="FFFFFF"/>
                </a:solidFill>
                <a:latin typeface="Calibri"/>
                <a:ea typeface="Calibri"/>
                <a:cs typeface="Calibri"/>
                <a:sym typeface="Calibri"/>
              </a:rPr>
            </a:br>
            <a:r>
              <a:rPr b="0" i="0" lang="en-US" sz="1400" u="none" cap="none" strike="noStrike">
                <a:solidFill>
                  <a:srgbClr val="FFFFFF"/>
                </a:solidFill>
                <a:latin typeface="Calibri"/>
                <a:ea typeface="Calibri"/>
                <a:cs typeface="Calibri"/>
                <a:sym typeface="Calibri"/>
              </a:rPr>
              <a:t>Shameena Mohammed Nabeel  ·  Lakshmi Shankar Paramasivan</a:t>
            </a:r>
            <a:endParaRPr/>
          </a:p>
        </p:txBody>
      </p:sp>
      <p:sp>
        <p:nvSpPr>
          <p:cNvPr id="91" name="Google Shape;91;p1"/>
          <p:cNvSpPr txBox="1"/>
          <p:nvPr/>
        </p:nvSpPr>
        <p:spPr>
          <a:xfrm>
            <a:off x="731520" y="6080760"/>
            <a:ext cx="1069848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009BDE"/>
                </a:solidFill>
                <a:latin typeface="Calibri"/>
                <a:ea typeface="Calibri"/>
                <a:cs typeface="Calibri"/>
                <a:sym typeface="Calibri"/>
              </a:rPr>
              <a:t>Luleå University of Technology  |  May 2026</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
          <p:cNvSpPr/>
          <p:nvPr/>
        </p:nvSpPr>
        <p:spPr>
          <a:xfrm>
            <a:off x="0" y="0"/>
            <a:ext cx="12188952" cy="1280160"/>
          </a:xfrm>
          <a:prstGeom prst="rect">
            <a:avLst/>
          </a:prstGeom>
          <a:solidFill>
            <a:srgbClr val="00357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7" name="Google Shape;97;p2"/>
          <p:cNvSpPr/>
          <p:nvPr/>
        </p:nvSpPr>
        <p:spPr>
          <a:xfrm>
            <a:off x="0" y="1280160"/>
            <a:ext cx="12188952" cy="73152"/>
          </a:xfrm>
          <a:prstGeom prst="rect">
            <a:avLst/>
          </a:prstGeom>
          <a:solidFill>
            <a:srgbClr val="009BD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8" name="Google Shape;98;p2"/>
          <p:cNvSpPr txBox="1"/>
          <p:nvPr/>
        </p:nvSpPr>
        <p:spPr>
          <a:xfrm>
            <a:off x="365760" y="164592"/>
            <a:ext cx="10972800" cy="7315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800" u="none" cap="none" strike="noStrike">
                <a:solidFill>
                  <a:srgbClr val="FFFFFF"/>
                </a:solidFill>
                <a:latin typeface="Calibri"/>
                <a:ea typeface="Calibri"/>
                <a:cs typeface="Calibri"/>
                <a:sym typeface="Calibri"/>
              </a:rPr>
              <a:t>Problem &amp; Objectives</a:t>
            </a:r>
            <a:endParaRPr/>
          </a:p>
        </p:txBody>
      </p:sp>
      <p:sp>
        <p:nvSpPr>
          <p:cNvPr id="99" name="Google Shape;99;p2"/>
          <p:cNvSpPr txBox="1"/>
          <p:nvPr/>
        </p:nvSpPr>
        <p:spPr>
          <a:xfrm>
            <a:off x="365760" y="841248"/>
            <a:ext cx="1097280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009BDE"/>
                </a:solidFill>
                <a:latin typeface="Calibri"/>
                <a:ea typeface="Calibri"/>
                <a:cs typeface="Calibri"/>
                <a:sym typeface="Calibri"/>
              </a:rPr>
              <a:t>Why cross-out detection matters</a:t>
            </a:r>
            <a:endParaRPr/>
          </a:p>
        </p:txBody>
      </p:sp>
      <p:sp>
        <p:nvSpPr>
          <p:cNvPr id="100" name="Google Shape;100;p2"/>
          <p:cNvSpPr/>
          <p:nvPr/>
        </p:nvSpPr>
        <p:spPr>
          <a:xfrm>
            <a:off x="0" y="1353312"/>
            <a:ext cx="12188952" cy="5504688"/>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1" name="Google Shape;101;p2"/>
          <p:cNvSpPr txBox="1"/>
          <p:nvPr/>
        </p:nvSpPr>
        <p:spPr>
          <a:xfrm>
            <a:off x="365760" y="1463040"/>
            <a:ext cx="11430000" cy="7315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333333"/>
                </a:solidFill>
                <a:latin typeface="Calibri"/>
                <a:ea typeface="Calibri"/>
                <a:cs typeface="Calibri"/>
                <a:sym typeface="Calibri"/>
              </a:rPr>
              <a:t>Cross-outs in handwritten documents obscure content and degrade automated recognition accuracy.</a:t>
            </a:r>
            <a:br>
              <a:rPr b="0" i="0" lang="en-US" sz="1400" u="none" cap="none" strike="noStrike">
                <a:solidFill>
                  <a:srgbClr val="333333"/>
                </a:solidFill>
                <a:latin typeface="Calibri"/>
                <a:ea typeface="Calibri"/>
                <a:cs typeface="Calibri"/>
                <a:sym typeface="Calibri"/>
              </a:rPr>
            </a:br>
            <a:r>
              <a:rPr b="0" i="0" lang="en-US" sz="1400" u="none" cap="none" strike="noStrike">
                <a:solidFill>
                  <a:srgbClr val="333333"/>
                </a:solidFill>
                <a:latin typeface="Calibri"/>
                <a:ea typeface="Calibri"/>
                <a:cs typeface="Calibri"/>
                <a:sym typeface="Calibri"/>
              </a:rPr>
              <a:t>This project develops a deep learning pipeline to detect and classify them.</a:t>
            </a:r>
            <a:endParaRPr/>
          </a:p>
        </p:txBody>
      </p:sp>
      <p:sp>
        <p:nvSpPr>
          <p:cNvPr id="102" name="Google Shape;102;p2"/>
          <p:cNvSpPr/>
          <p:nvPr/>
        </p:nvSpPr>
        <p:spPr>
          <a:xfrm>
            <a:off x="365760" y="2240280"/>
            <a:ext cx="11430000" cy="36576"/>
          </a:xfrm>
          <a:prstGeom prst="rect">
            <a:avLst/>
          </a:prstGeom>
          <a:solidFill>
            <a:srgbClr val="009BD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3" name="Google Shape;103;p2"/>
          <p:cNvSpPr/>
          <p:nvPr/>
        </p:nvSpPr>
        <p:spPr>
          <a:xfrm>
            <a:off x="365760" y="2423160"/>
            <a:ext cx="457200" cy="457200"/>
          </a:xfrm>
          <a:prstGeom prst="rect">
            <a:avLst/>
          </a:prstGeom>
          <a:solidFill>
            <a:srgbClr val="00357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4" name="Google Shape;104;p2"/>
          <p:cNvSpPr txBox="1"/>
          <p:nvPr/>
        </p:nvSpPr>
        <p:spPr>
          <a:xfrm>
            <a:off x="365760" y="2423160"/>
            <a:ext cx="457200"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2000" u="none" cap="none" strike="noStrike">
                <a:solidFill>
                  <a:srgbClr val="FFFFFF"/>
                </a:solidFill>
                <a:latin typeface="Calibri"/>
                <a:ea typeface="Calibri"/>
                <a:cs typeface="Calibri"/>
                <a:sym typeface="Calibri"/>
              </a:rPr>
              <a:t>1</a:t>
            </a:r>
            <a:endParaRPr/>
          </a:p>
        </p:txBody>
      </p:sp>
      <p:sp>
        <p:nvSpPr>
          <p:cNvPr id="105" name="Google Shape;105;p2"/>
          <p:cNvSpPr txBox="1"/>
          <p:nvPr/>
        </p:nvSpPr>
        <p:spPr>
          <a:xfrm>
            <a:off x="960120" y="2459736"/>
            <a:ext cx="1078992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333333"/>
                </a:solidFill>
                <a:latin typeface="Calibri"/>
                <a:ea typeface="Calibri"/>
                <a:cs typeface="Calibri"/>
                <a:sym typeface="Calibri"/>
              </a:rPr>
              <a:t>Binary Classification — distinguish CLEAN vs CROSSED-OUT word images</a:t>
            </a:r>
            <a:endParaRPr/>
          </a:p>
        </p:txBody>
      </p:sp>
      <p:sp>
        <p:nvSpPr>
          <p:cNvPr id="106" name="Google Shape;106;p2"/>
          <p:cNvSpPr/>
          <p:nvPr/>
        </p:nvSpPr>
        <p:spPr>
          <a:xfrm>
            <a:off x="365760" y="3383280"/>
            <a:ext cx="457200" cy="457200"/>
          </a:xfrm>
          <a:prstGeom prst="rect">
            <a:avLst/>
          </a:prstGeom>
          <a:solidFill>
            <a:srgbClr val="00357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7" name="Google Shape;107;p2"/>
          <p:cNvSpPr txBox="1"/>
          <p:nvPr/>
        </p:nvSpPr>
        <p:spPr>
          <a:xfrm>
            <a:off x="365760" y="3383280"/>
            <a:ext cx="457200"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2000" u="none" cap="none" strike="noStrike">
                <a:solidFill>
                  <a:srgbClr val="FFFFFF"/>
                </a:solidFill>
                <a:latin typeface="Calibri"/>
                <a:ea typeface="Calibri"/>
                <a:cs typeface="Calibri"/>
                <a:sym typeface="Calibri"/>
              </a:rPr>
              <a:t>2</a:t>
            </a:r>
            <a:endParaRPr/>
          </a:p>
        </p:txBody>
      </p:sp>
      <p:sp>
        <p:nvSpPr>
          <p:cNvPr id="108" name="Google Shape;108;p2"/>
          <p:cNvSpPr txBox="1"/>
          <p:nvPr/>
        </p:nvSpPr>
        <p:spPr>
          <a:xfrm>
            <a:off x="960120" y="3419856"/>
            <a:ext cx="1078992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333333"/>
                </a:solidFill>
                <a:latin typeface="Calibri"/>
                <a:ea typeface="Calibri"/>
                <a:cs typeface="Calibri"/>
                <a:sym typeface="Calibri"/>
              </a:rPr>
              <a:t>Multi-class Classification — identify one of 7 cross-out styles (Single-Line, Double-Line,</a:t>
            </a:r>
            <a:br>
              <a:rPr b="0" i="0" lang="en-US" sz="1400" u="none" cap="none" strike="noStrike">
                <a:solidFill>
                  <a:srgbClr val="333333"/>
                </a:solidFill>
                <a:latin typeface="Calibri"/>
                <a:ea typeface="Calibri"/>
                <a:cs typeface="Calibri"/>
                <a:sym typeface="Calibri"/>
              </a:rPr>
            </a:br>
            <a:r>
              <a:rPr b="0" i="0" lang="en-US" sz="1400" u="none" cap="none" strike="noStrike">
                <a:solidFill>
                  <a:srgbClr val="333333"/>
                </a:solidFill>
                <a:latin typeface="Calibri"/>
                <a:ea typeface="Calibri"/>
                <a:cs typeface="Calibri"/>
                <a:sym typeface="Calibri"/>
              </a:rPr>
              <a:t>        Diagonal, Cross, Wave, Zig-Zag, Scratch)</a:t>
            </a:r>
            <a:endParaRPr/>
          </a:p>
        </p:txBody>
      </p:sp>
      <p:sp>
        <p:nvSpPr>
          <p:cNvPr id="109" name="Google Shape;109;p2"/>
          <p:cNvSpPr/>
          <p:nvPr/>
        </p:nvSpPr>
        <p:spPr>
          <a:xfrm>
            <a:off x="365760" y="4343400"/>
            <a:ext cx="457200" cy="457200"/>
          </a:xfrm>
          <a:prstGeom prst="rect">
            <a:avLst/>
          </a:prstGeom>
          <a:solidFill>
            <a:srgbClr val="00357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0" name="Google Shape;110;p2"/>
          <p:cNvSpPr txBox="1"/>
          <p:nvPr/>
        </p:nvSpPr>
        <p:spPr>
          <a:xfrm>
            <a:off x="365760" y="4343400"/>
            <a:ext cx="457200"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2000" u="none" cap="none" strike="noStrike">
                <a:solidFill>
                  <a:srgbClr val="FFFFFF"/>
                </a:solidFill>
                <a:latin typeface="Calibri"/>
                <a:ea typeface="Calibri"/>
                <a:cs typeface="Calibri"/>
                <a:sym typeface="Calibri"/>
              </a:rPr>
              <a:t>3</a:t>
            </a:r>
            <a:endParaRPr/>
          </a:p>
        </p:txBody>
      </p:sp>
      <p:sp>
        <p:nvSpPr>
          <p:cNvPr id="111" name="Google Shape;111;p2"/>
          <p:cNvSpPr txBox="1"/>
          <p:nvPr/>
        </p:nvSpPr>
        <p:spPr>
          <a:xfrm>
            <a:off x="960120" y="4379976"/>
            <a:ext cx="1078992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333333"/>
                </a:solidFill>
                <a:latin typeface="Calibri"/>
                <a:ea typeface="Calibri"/>
                <a:cs typeface="Calibri"/>
                <a:sym typeface="Calibri"/>
              </a:rPr>
              <a:t>Generalisation Testing — evaluate on a custom hand-drawn dataset of 56 images</a:t>
            </a:r>
            <a:endParaRPr/>
          </a:p>
        </p:txBody>
      </p:sp>
      <p:sp>
        <p:nvSpPr>
          <p:cNvPr id="112" name="Google Shape;112;p2"/>
          <p:cNvSpPr/>
          <p:nvPr/>
        </p:nvSpPr>
        <p:spPr>
          <a:xfrm>
            <a:off x="0" y="6537960"/>
            <a:ext cx="12188952" cy="320040"/>
          </a:xfrm>
          <a:prstGeom prst="rect">
            <a:avLst/>
          </a:prstGeom>
          <a:solidFill>
            <a:srgbClr val="00357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3" name="Google Shape;113;p2"/>
          <p:cNvSpPr txBox="1"/>
          <p:nvPr/>
        </p:nvSpPr>
        <p:spPr>
          <a:xfrm>
            <a:off x="274320" y="6556248"/>
            <a:ext cx="11613000" cy="246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000" u="none" cap="none" strike="noStrike">
                <a:solidFill>
                  <a:srgbClr val="FFFFFF"/>
                </a:solidFill>
                <a:latin typeface="Calibri"/>
                <a:ea typeface="Calibri"/>
                <a:cs typeface="Calibri"/>
                <a:sym typeface="Calibri"/>
              </a:rPr>
              <a:t>D7047E Advanced Deep Learning  |  Group 14  |  LTU 2026 |</a:t>
            </a:r>
            <a:r>
              <a:rPr lang="en-US" sz="1000">
                <a:solidFill>
                  <a:srgbClr val="FFFFFF"/>
                </a:solidFill>
                <a:latin typeface="Calibri"/>
                <a:ea typeface="Calibri"/>
                <a:cs typeface="Calibri"/>
                <a:sym typeface="Calibri"/>
              </a:rPr>
              <a:t> L</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3"/>
          <p:cNvSpPr/>
          <p:nvPr/>
        </p:nvSpPr>
        <p:spPr>
          <a:xfrm>
            <a:off x="0" y="0"/>
            <a:ext cx="12188952" cy="1280160"/>
          </a:xfrm>
          <a:prstGeom prst="rect">
            <a:avLst/>
          </a:prstGeom>
          <a:solidFill>
            <a:srgbClr val="00357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9" name="Google Shape;119;p3"/>
          <p:cNvSpPr/>
          <p:nvPr/>
        </p:nvSpPr>
        <p:spPr>
          <a:xfrm>
            <a:off x="0" y="1280160"/>
            <a:ext cx="12188952" cy="73152"/>
          </a:xfrm>
          <a:prstGeom prst="rect">
            <a:avLst/>
          </a:prstGeom>
          <a:solidFill>
            <a:srgbClr val="009BD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0" name="Google Shape;120;p3"/>
          <p:cNvSpPr txBox="1"/>
          <p:nvPr/>
        </p:nvSpPr>
        <p:spPr>
          <a:xfrm>
            <a:off x="365760" y="164592"/>
            <a:ext cx="10972800" cy="7315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800" u="none" cap="none" strike="noStrike">
                <a:solidFill>
                  <a:srgbClr val="FFFFFF"/>
                </a:solidFill>
                <a:latin typeface="Calibri"/>
                <a:ea typeface="Calibri"/>
                <a:cs typeface="Calibri"/>
                <a:sym typeface="Calibri"/>
              </a:rPr>
              <a:t>Dataset — IAM Handwriting Database</a:t>
            </a:r>
            <a:endParaRPr/>
          </a:p>
        </p:txBody>
      </p:sp>
      <p:sp>
        <p:nvSpPr>
          <p:cNvPr id="121" name="Google Shape;121;p3"/>
          <p:cNvSpPr txBox="1"/>
          <p:nvPr/>
        </p:nvSpPr>
        <p:spPr>
          <a:xfrm>
            <a:off x="365760" y="841248"/>
            <a:ext cx="1097280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009BDE"/>
                </a:solidFill>
                <a:latin typeface="Calibri"/>
                <a:ea typeface="Calibri"/>
                <a:cs typeface="Calibri"/>
                <a:sym typeface="Calibri"/>
              </a:rPr>
              <a:t>Synthetic cross-outs applied to real handwritten words</a:t>
            </a:r>
            <a:endParaRPr/>
          </a:p>
        </p:txBody>
      </p:sp>
      <p:sp>
        <p:nvSpPr>
          <p:cNvPr id="122" name="Google Shape;122;p3"/>
          <p:cNvSpPr/>
          <p:nvPr/>
        </p:nvSpPr>
        <p:spPr>
          <a:xfrm>
            <a:off x="0" y="1353312"/>
            <a:ext cx="12188952" cy="5504688"/>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3" name="Google Shape;123;p3"/>
          <p:cNvSpPr txBox="1"/>
          <p:nvPr/>
        </p:nvSpPr>
        <p:spPr>
          <a:xfrm>
            <a:off x="365760" y="1508760"/>
            <a:ext cx="5029200" cy="338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rgbClr val="003578"/>
                </a:solidFill>
                <a:latin typeface="Calibri"/>
                <a:ea typeface="Calibri"/>
                <a:cs typeface="Calibri"/>
                <a:sym typeface="Calibri"/>
              </a:rPr>
              <a:t>Data Splits - Gi</a:t>
            </a:r>
            <a:r>
              <a:rPr b="1" lang="en-US" sz="1600">
                <a:solidFill>
                  <a:srgbClr val="003578"/>
                </a:solidFill>
                <a:latin typeface="Calibri"/>
                <a:ea typeface="Calibri"/>
                <a:cs typeface="Calibri"/>
                <a:sym typeface="Calibri"/>
              </a:rPr>
              <a:t>ven in the Dataset</a:t>
            </a:r>
            <a:endParaRPr/>
          </a:p>
        </p:txBody>
      </p:sp>
      <p:sp>
        <p:nvSpPr>
          <p:cNvPr id="124" name="Google Shape;124;p3"/>
          <p:cNvSpPr/>
          <p:nvPr/>
        </p:nvSpPr>
        <p:spPr>
          <a:xfrm>
            <a:off x="365760" y="1920240"/>
            <a:ext cx="1463040" cy="347472"/>
          </a:xfrm>
          <a:prstGeom prst="rect">
            <a:avLst/>
          </a:prstGeom>
          <a:solidFill>
            <a:srgbClr val="00357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5" name="Google Shape;125;p3"/>
          <p:cNvSpPr txBox="1"/>
          <p:nvPr/>
        </p:nvSpPr>
        <p:spPr>
          <a:xfrm>
            <a:off x="411480" y="1938528"/>
            <a:ext cx="141732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200" u="none" cap="none" strike="noStrike">
                <a:solidFill>
                  <a:srgbClr val="FFFFFF"/>
                </a:solidFill>
                <a:latin typeface="Calibri"/>
                <a:ea typeface="Calibri"/>
                <a:cs typeface="Calibri"/>
                <a:sym typeface="Calibri"/>
              </a:rPr>
              <a:t>Split</a:t>
            </a:r>
            <a:endParaRPr/>
          </a:p>
        </p:txBody>
      </p:sp>
      <p:sp>
        <p:nvSpPr>
          <p:cNvPr id="126" name="Google Shape;126;p3"/>
          <p:cNvSpPr/>
          <p:nvPr/>
        </p:nvSpPr>
        <p:spPr>
          <a:xfrm>
            <a:off x="2011680" y="1920240"/>
            <a:ext cx="1463040" cy="347472"/>
          </a:xfrm>
          <a:prstGeom prst="rect">
            <a:avLst/>
          </a:prstGeom>
          <a:solidFill>
            <a:srgbClr val="00357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7" name="Google Shape;127;p3"/>
          <p:cNvSpPr txBox="1"/>
          <p:nvPr/>
        </p:nvSpPr>
        <p:spPr>
          <a:xfrm>
            <a:off x="2057400" y="1938528"/>
            <a:ext cx="141732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200" u="none" cap="none" strike="noStrike">
                <a:solidFill>
                  <a:srgbClr val="FFFFFF"/>
                </a:solidFill>
                <a:latin typeface="Calibri"/>
                <a:ea typeface="Calibri"/>
                <a:cs typeface="Calibri"/>
                <a:sym typeface="Calibri"/>
              </a:rPr>
              <a:t>Per Class</a:t>
            </a:r>
            <a:endParaRPr/>
          </a:p>
        </p:txBody>
      </p:sp>
      <p:sp>
        <p:nvSpPr>
          <p:cNvPr id="128" name="Google Shape;128;p3"/>
          <p:cNvSpPr/>
          <p:nvPr/>
        </p:nvSpPr>
        <p:spPr>
          <a:xfrm>
            <a:off x="3474720" y="1920240"/>
            <a:ext cx="2011680" cy="347472"/>
          </a:xfrm>
          <a:prstGeom prst="rect">
            <a:avLst/>
          </a:prstGeom>
          <a:solidFill>
            <a:srgbClr val="00357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9" name="Google Shape;129;p3"/>
          <p:cNvSpPr txBox="1"/>
          <p:nvPr/>
        </p:nvSpPr>
        <p:spPr>
          <a:xfrm>
            <a:off x="3520439" y="1938528"/>
            <a:ext cx="141732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200" u="none" cap="none" strike="noStrike">
                <a:solidFill>
                  <a:srgbClr val="FFFFFF"/>
                </a:solidFill>
                <a:latin typeface="Calibri"/>
                <a:ea typeface="Calibri"/>
                <a:cs typeface="Calibri"/>
                <a:sym typeface="Calibri"/>
              </a:rPr>
              <a:t>Total (8 classes)</a:t>
            </a:r>
            <a:endParaRPr/>
          </a:p>
        </p:txBody>
      </p:sp>
      <p:sp>
        <p:nvSpPr>
          <p:cNvPr id="130" name="Google Shape;130;p3"/>
          <p:cNvSpPr/>
          <p:nvPr/>
        </p:nvSpPr>
        <p:spPr>
          <a:xfrm>
            <a:off x="365760" y="2267712"/>
            <a:ext cx="1463040" cy="365760"/>
          </a:xfrm>
          <a:prstGeom prst="rect">
            <a:avLst/>
          </a:prstGeom>
          <a:solidFill>
            <a:srgbClr val="F2F2F2"/>
          </a:solidFill>
          <a:ln cap="flat" cmpd="sng" w="9525">
            <a:solidFill>
              <a:srgbClr val="CCCCC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1" name="Google Shape;131;p3"/>
          <p:cNvSpPr txBox="1"/>
          <p:nvPr/>
        </p:nvSpPr>
        <p:spPr>
          <a:xfrm>
            <a:off x="411480" y="2286000"/>
            <a:ext cx="1371600" cy="292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300" u="none" cap="none" strike="noStrike">
                <a:solidFill>
                  <a:srgbClr val="333333"/>
                </a:solidFill>
                <a:latin typeface="Calibri"/>
                <a:ea typeface="Calibri"/>
                <a:cs typeface="Calibri"/>
                <a:sym typeface="Calibri"/>
              </a:rPr>
              <a:t>Train ~63%</a:t>
            </a:r>
            <a:endParaRPr/>
          </a:p>
        </p:txBody>
      </p:sp>
      <p:sp>
        <p:nvSpPr>
          <p:cNvPr id="132" name="Google Shape;132;p3"/>
          <p:cNvSpPr/>
          <p:nvPr/>
        </p:nvSpPr>
        <p:spPr>
          <a:xfrm>
            <a:off x="2011680" y="2267712"/>
            <a:ext cx="1463040" cy="365760"/>
          </a:xfrm>
          <a:prstGeom prst="rect">
            <a:avLst/>
          </a:prstGeom>
          <a:solidFill>
            <a:srgbClr val="F2F2F2"/>
          </a:solidFill>
          <a:ln cap="flat" cmpd="sng" w="9525">
            <a:solidFill>
              <a:srgbClr val="CCCCC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3" name="Google Shape;133;p3"/>
          <p:cNvSpPr txBox="1"/>
          <p:nvPr/>
        </p:nvSpPr>
        <p:spPr>
          <a:xfrm>
            <a:off x="2057400" y="2286000"/>
            <a:ext cx="1371600" cy="34747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300" u="none" cap="none" strike="noStrike">
                <a:solidFill>
                  <a:srgbClr val="333333"/>
                </a:solidFill>
                <a:latin typeface="Calibri"/>
                <a:ea typeface="Calibri"/>
                <a:cs typeface="Calibri"/>
                <a:sym typeface="Calibri"/>
              </a:rPr>
              <a:t>47,997</a:t>
            </a:r>
            <a:endParaRPr/>
          </a:p>
        </p:txBody>
      </p:sp>
      <p:sp>
        <p:nvSpPr>
          <p:cNvPr id="134" name="Google Shape;134;p3"/>
          <p:cNvSpPr/>
          <p:nvPr/>
        </p:nvSpPr>
        <p:spPr>
          <a:xfrm>
            <a:off x="3474720" y="2267712"/>
            <a:ext cx="2011680" cy="365760"/>
          </a:xfrm>
          <a:prstGeom prst="rect">
            <a:avLst/>
          </a:prstGeom>
          <a:solidFill>
            <a:srgbClr val="F2F2F2"/>
          </a:solidFill>
          <a:ln cap="flat" cmpd="sng" w="9525">
            <a:solidFill>
              <a:srgbClr val="CCCCC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5" name="Google Shape;135;p3"/>
          <p:cNvSpPr txBox="1"/>
          <p:nvPr/>
        </p:nvSpPr>
        <p:spPr>
          <a:xfrm>
            <a:off x="3520439" y="2286000"/>
            <a:ext cx="1371600" cy="34747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300" u="none" cap="none" strike="noStrike">
                <a:solidFill>
                  <a:srgbClr val="333333"/>
                </a:solidFill>
                <a:latin typeface="Calibri"/>
                <a:ea typeface="Calibri"/>
                <a:cs typeface="Calibri"/>
                <a:sym typeface="Calibri"/>
              </a:rPr>
              <a:t>383,976</a:t>
            </a:r>
            <a:endParaRPr/>
          </a:p>
        </p:txBody>
      </p:sp>
      <p:sp>
        <p:nvSpPr>
          <p:cNvPr id="136" name="Google Shape;136;p3"/>
          <p:cNvSpPr/>
          <p:nvPr/>
        </p:nvSpPr>
        <p:spPr>
          <a:xfrm>
            <a:off x="365760" y="2651760"/>
            <a:ext cx="1463040" cy="365760"/>
          </a:xfrm>
          <a:prstGeom prst="rect">
            <a:avLst/>
          </a:prstGeom>
          <a:solidFill>
            <a:srgbClr val="FFFFFF"/>
          </a:solidFill>
          <a:ln cap="flat" cmpd="sng" w="9525">
            <a:solidFill>
              <a:srgbClr val="CCCCC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7" name="Google Shape;137;p3"/>
          <p:cNvSpPr txBox="1"/>
          <p:nvPr/>
        </p:nvSpPr>
        <p:spPr>
          <a:xfrm>
            <a:off x="411480" y="2670048"/>
            <a:ext cx="1371600" cy="292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300" u="none" cap="none" strike="noStrike">
                <a:solidFill>
                  <a:srgbClr val="333333"/>
                </a:solidFill>
                <a:latin typeface="Calibri"/>
                <a:ea typeface="Calibri"/>
                <a:cs typeface="Calibri"/>
                <a:sym typeface="Calibri"/>
              </a:rPr>
              <a:t>Val ~ 10%</a:t>
            </a:r>
            <a:endParaRPr/>
          </a:p>
        </p:txBody>
      </p:sp>
      <p:sp>
        <p:nvSpPr>
          <p:cNvPr id="138" name="Google Shape;138;p3"/>
          <p:cNvSpPr/>
          <p:nvPr/>
        </p:nvSpPr>
        <p:spPr>
          <a:xfrm>
            <a:off x="2011680" y="2651760"/>
            <a:ext cx="1463040" cy="365760"/>
          </a:xfrm>
          <a:prstGeom prst="rect">
            <a:avLst/>
          </a:prstGeom>
          <a:solidFill>
            <a:srgbClr val="FFFFFF"/>
          </a:solidFill>
          <a:ln cap="flat" cmpd="sng" w="9525">
            <a:solidFill>
              <a:srgbClr val="CCCCC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9" name="Google Shape;139;p3"/>
          <p:cNvSpPr txBox="1"/>
          <p:nvPr/>
        </p:nvSpPr>
        <p:spPr>
          <a:xfrm>
            <a:off x="2057400" y="2670048"/>
            <a:ext cx="1371600" cy="34747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300" u="none" cap="none" strike="noStrike">
                <a:solidFill>
                  <a:srgbClr val="333333"/>
                </a:solidFill>
                <a:latin typeface="Calibri"/>
                <a:ea typeface="Calibri"/>
                <a:cs typeface="Calibri"/>
                <a:sym typeface="Calibri"/>
              </a:rPr>
              <a:t>7,559</a:t>
            </a:r>
            <a:endParaRPr/>
          </a:p>
        </p:txBody>
      </p:sp>
      <p:sp>
        <p:nvSpPr>
          <p:cNvPr id="140" name="Google Shape;140;p3"/>
          <p:cNvSpPr/>
          <p:nvPr/>
        </p:nvSpPr>
        <p:spPr>
          <a:xfrm>
            <a:off x="3474720" y="2651760"/>
            <a:ext cx="2011680" cy="365760"/>
          </a:xfrm>
          <a:prstGeom prst="rect">
            <a:avLst/>
          </a:prstGeom>
          <a:solidFill>
            <a:srgbClr val="FFFFFF"/>
          </a:solidFill>
          <a:ln cap="flat" cmpd="sng" w="9525">
            <a:solidFill>
              <a:srgbClr val="CCCCC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1" name="Google Shape;141;p3"/>
          <p:cNvSpPr txBox="1"/>
          <p:nvPr/>
        </p:nvSpPr>
        <p:spPr>
          <a:xfrm>
            <a:off x="3520439" y="2670048"/>
            <a:ext cx="1371600" cy="34747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300" u="none" cap="none" strike="noStrike">
                <a:solidFill>
                  <a:srgbClr val="333333"/>
                </a:solidFill>
                <a:latin typeface="Calibri"/>
                <a:ea typeface="Calibri"/>
                <a:cs typeface="Calibri"/>
                <a:sym typeface="Calibri"/>
              </a:rPr>
              <a:t>60,472</a:t>
            </a:r>
            <a:endParaRPr/>
          </a:p>
        </p:txBody>
      </p:sp>
      <p:sp>
        <p:nvSpPr>
          <p:cNvPr id="142" name="Google Shape;142;p3"/>
          <p:cNvSpPr/>
          <p:nvPr/>
        </p:nvSpPr>
        <p:spPr>
          <a:xfrm>
            <a:off x="365760" y="3035808"/>
            <a:ext cx="1463040" cy="365760"/>
          </a:xfrm>
          <a:prstGeom prst="rect">
            <a:avLst/>
          </a:prstGeom>
          <a:solidFill>
            <a:srgbClr val="F2F2F2"/>
          </a:solidFill>
          <a:ln cap="flat" cmpd="sng" w="9525">
            <a:solidFill>
              <a:srgbClr val="CCCCC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3" name="Google Shape;143;p3"/>
          <p:cNvSpPr txBox="1"/>
          <p:nvPr/>
        </p:nvSpPr>
        <p:spPr>
          <a:xfrm>
            <a:off x="411480" y="3054096"/>
            <a:ext cx="1371600" cy="292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300" u="none" cap="none" strike="noStrike">
                <a:solidFill>
                  <a:srgbClr val="333333"/>
                </a:solidFill>
                <a:latin typeface="Calibri"/>
                <a:ea typeface="Calibri"/>
                <a:cs typeface="Calibri"/>
                <a:sym typeface="Calibri"/>
              </a:rPr>
              <a:t>Test ~27%</a:t>
            </a:r>
            <a:endParaRPr/>
          </a:p>
        </p:txBody>
      </p:sp>
      <p:sp>
        <p:nvSpPr>
          <p:cNvPr id="144" name="Google Shape;144;p3"/>
          <p:cNvSpPr/>
          <p:nvPr/>
        </p:nvSpPr>
        <p:spPr>
          <a:xfrm>
            <a:off x="2011680" y="3035808"/>
            <a:ext cx="1463040" cy="365760"/>
          </a:xfrm>
          <a:prstGeom prst="rect">
            <a:avLst/>
          </a:prstGeom>
          <a:solidFill>
            <a:srgbClr val="F2F2F2"/>
          </a:solidFill>
          <a:ln cap="flat" cmpd="sng" w="9525">
            <a:solidFill>
              <a:srgbClr val="CCCCC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5" name="Google Shape;145;p3"/>
          <p:cNvSpPr txBox="1"/>
          <p:nvPr/>
        </p:nvSpPr>
        <p:spPr>
          <a:xfrm>
            <a:off x="2057400" y="3054096"/>
            <a:ext cx="1371600" cy="34747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300" u="none" cap="none" strike="noStrike">
                <a:solidFill>
                  <a:srgbClr val="333333"/>
                </a:solidFill>
                <a:latin typeface="Calibri"/>
                <a:ea typeface="Calibri"/>
                <a:cs typeface="Calibri"/>
                <a:sym typeface="Calibri"/>
              </a:rPr>
              <a:t>20,306</a:t>
            </a:r>
            <a:endParaRPr/>
          </a:p>
        </p:txBody>
      </p:sp>
      <p:sp>
        <p:nvSpPr>
          <p:cNvPr id="146" name="Google Shape;146;p3"/>
          <p:cNvSpPr/>
          <p:nvPr/>
        </p:nvSpPr>
        <p:spPr>
          <a:xfrm>
            <a:off x="3474720" y="3035808"/>
            <a:ext cx="2011680" cy="365760"/>
          </a:xfrm>
          <a:prstGeom prst="rect">
            <a:avLst/>
          </a:prstGeom>
          <a:solidFill>
            <a:srgbClr val="F2F2F2"/>
          </a:solidFill>
          <a:ln cap="flat" cmpd="sng" w="9525">
            <a:solidFill>
              <a:srgbClr val="CCCCC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7" name="Google Shape;147;p3"/>
          <p:cNvSpPr txBox="1"/>
          <p:nvPr/>
        </p:nvSpPr>
        <p:spPr>
          <a:xfrm>
            <a:off x="3520439" y="3054096"/>
            <a:ext cx="1371600" cy="34747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300" u="none" cap="none" strike="noStrike">
                <a:solidFill>
                  <a:srgbClr val="333333"/>
                </a:solidFill>
                <a:latin typeface="Calibri"/>
                <a:ea typeface="Calibri"/>
                <a:cs typeface="Calibri"/>
                <a:sym typeface="Calibri"/>
              </a:rPr>
              <a:t>162,448</a:t>
            </a:r>
            <a:endParaRPr/>
          </a:p>
        </p:txBody>
      </p:sp>
      <p:sp>
        <p:nvSpPr>
          <p:cNvPr id="148" name="Google Shape;148;p3"/>
          <p:cNvSpPr txBox="1"/>
          <p:nvPr/>
        </p:nvSpPr>
        <p:spPr>
          <a:xfrm>
            <a:off x="6400800" y="1508760"/>
            <a:ext cx="53035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rgbClr val="003578"/>
                </a:solidFill>
                <a:latin typeface="Calibri"/>
                <a:ea typeface="Calibri"/>
                <a:cs typeface="Calibri"/>
                <a:sym typeface="Calibri"/>
              </a:rPr>
              <a:t>Cross-out Styles</a:t>
            </a:r>
            <a:endParaRPr/>
          </a:p>
        </p:txBody>
      </p:sp>
      <p:sp>
        <p:nvSpPr>
          <p:cNvPr id="149" name="Google Shape;149;p3"/>
          <p:cNvSpPr/>
          <p:nvPr/>
        </p:nvSpPr>
        <p:spPr>
          <a:xfrm>
            <a:off x="6400800" y="1920240"/>
            <a:ext cx="164592" cy="274320"/>
          </a:xfrm>
          <a:prstGeom prst="rect">
            <a:avLst/>
          </a:prstGeom>
          <a:solidFill>
            <a:srgbClr val="009BD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0" name="Google Shape;150;p3"/>
          <p:cNvSpPr txBox="1"/>
          <p:nvPr/>
        </p:nvSpPr>
        <p:spPr>
          <a:xfrm>
            <a:off x="6675120" y="1920240"/>
            <a:ext cx="5120640" cy="34747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300" u="none" cap="none" strike="noStrike">
                <a:solidFill>
                  <a:srgbClr val="333333"/>
                </a:solidFill>
                <a:latin typeface="Calibri"/>
                <a:ea typeface="Calibri"/>
                <a:cs typeface="Calibri"/>
                <a:sym typeface="Calibri"/>
              </a:rPr>
              <a:t>Single-Line</a:t>
            </a:r>
            <a:endParaRPr/>
          </a:p>
        </p:txBody>
      </p:sp>
      <p:sp>
        <p:nvSpPr>
          <p:cNvPr id="151" name="Google Shape;151;p3"/>
          <p:cNvSpPr/>
          <p:nvPr/>
        </p:nvSpPr>
        <p:spPr>
          <a:xfrm>
            <a:off x="6400800" y="2304288"/>
            <a:ext cx="164592" cy="274320"/>
          </a:xfrm>
          <a:prstGeom prst="rect">
            <a:avLst/>
          </a:prstGeom>
          <a:solidFill>
            <a:srgbClr val="009BD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2" name="Google Shape;152;p3"/>
          <p:cNvSpPr txBox="1"/>
          <p:nvPr/>
        </p:nvSpPr>
        <p:spPr>
          <a:xfrm>
            <a:off x="6675120" y="2304288"/>
            <a:ext cx="5120640" cy="34747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300" u="none" cap="none" strike="noStrike">
                <a:solidFill>
                  <a:srgbClr val="333333"/>
                </a:solidFill>
                <a:latin typeface="Calibri"/>
                <a:ea typeface="Calibri"/>
                <a:cs typeface="Calibri"/>
                <a:sym typeface="Calibri"/>
              </a:rPr>
              <a:t>Double-Line</a:t>
            </a:r>
            <a:endParaRPr/>
          </a:p>
        </p:txBody>
      </p:sp>
      <p:sp>
        <p:nvSpPr>
          <p:cNvPr id="153" name="Google Shape;153;p3"/>
          <p:cNvSpPr/>
          <p:nvPr/>
        </p:nvSpPr>
        <p:spPr>
          <a:xfrm>
            <a:off x="6400800" y="2688336"/>
            <a:ext cx="164592" cy="274320"/>
          </a:xfrm>
          <a:prstGeom prst="rect">
            <a:avLst/>
          </a:prstGeom>
          <a:solidFill>
            <a:srgbClr val="009BD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4" name="Google Shape;154;p3"/>
          <p:cNvSpPr txBox="1"/>
          <p:nvPr/>
        </p:nvSpPr>
        <p:spPr>
          <a:xfrm>
            <a:off x="6675120" y="2688336"/>
            <a:ext cx="5120640" cy="34747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300" u="none" cap="none" strike="noStrike">
                <a:solidFill>
                  <a:srgbClr val="333333"/>
                </a:solidFill>
                <a:latin typeface="Calibri"/>
                <a:ea typeface="Calibri"/>
                <a:cs typeface="Calibri"/>
                <a:sym typeface="Calibri"/>
              </a:rPr>
              <a:t>Diagonal</a:t>
            </a:r>
            <a:endParaRPr/>
          </a:p>
        </p:txBody>
      </p:sp>
      <p:sp>
        <p:nvSpPr>
          <p:cNvPr id="155" name="Google Shape;155;p3"/>
          <p:cNvSpPr/>
          <p:nvPr/>
        </p:nvSpPr>
        <p:spPr>
          <a:xfrm>
            <a:off x="6400800" y="3072384"/>
            <a:ext cx="164592" cy="274320"/>
          </a:xfrm>
          <a:prstGeom prst="rect">
            <a:avLst/>
          </a:prstGeom>
          <a:solidFill>
            <a:srgbClr val="009BD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6" name="Google Shape;156;p3"/>
          <p:cNvSpPr txBox="1"/>
          <p:nvPr/>
        </p:nvSpPr>
        <p:spPr>
          <a:xfrm>
            <a:off x="6675120" y="3072384"/>
            <a:ext cx="5120640" cy="34747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300" u="none" cap="none" strike="noStrike">
                <a:solidFill>
                  <a:srgbClr val="333333"/>
                </a:solidFill>
                <a:latin typeface="Calibri"/>
                <a:ea typeface="Calibri"/>
                <a:cs typeface="Calibri"/>
                <a:sym typeface="Calibri"/>
              </a:rPr>
              <a:t>Cross</a:t>
            </a:r>
            <a:endParaRPr/>
          </a:p>
        </p:txBody>
      </p:sp>
      <p:sp>
        <p:nvSpPr>
          <p:cNvPr id="157" name="Google Shape;157;p3"/>
          <p:cNvSpPr/>
          <p:nvPr/>
        </p:nvSpPr>
        <p:spPr>
          <a:xfrm>
            <a:off x="6400800" y="3456432"/>
            <a:ext cx="164592" cy="274320"/>
          </a:xfrm>
          <a:prstGeom prst="rect">
            <a:avLst/>
          </a:prstGeom>
          <a:solidFill>
            <a:srgbClr val="009BD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8" name="Google Shape;158;p3"/>
          <p:cNvSpPr txBox="1"/>
          <p:nvPr/>
        </p:nvSpPr>
        <p:spPr>
          <a:xfrm>
            <a:off x="6675120" y="3456432"/>
            <a:ext cx="5120640" cy="34747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300" u="none" cap="none" strike="noStrike">
                <a:solidFill>
                  <a:srgbClr val="333333"/>
                </a:solidFill>
                <a:latin typeface="Calibri"/>
                <a:ea typeface="Calibri"/>
                <a:cs typeface="Calibri"/>
                <a:sym typeface="Calibri"/>
              </a:rPr>
              <a:t>Wave</a:t>
            </a:r>
            <a:endParaRPr/>
          </a:p>
        </p:txBody>
      </p:sp>
      <p:sp>
        <p:nvSpPr>
          <p:cNvPr id="159" name="Google Shape;159;p3"/>
          <p:cNvSpPr/>
          <p:nvPr/>
        </p:nvSpPr>
        <p:spPr>
          <a:xfrm>
            <a:off x="6400800" y="3840480"/>
            <a:ext cx="164592" cy="274320"/>
          </a:xfrm>
          <a:prstGeom prst="rect">
            <a:avLst/>
          </a:prstGeom>
          <a:solidFill>
            <a:srgbClr val="009BD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0" name="Google Shape;160;p3"/>
          <p:cNvSpPr txBox="1"/>
          <p:nvPr/>
        </p:nvSpPr>
        <p:spPr>
          <a:xfrm>
            <a:off x="6675120" y="3840480"/>
            <a:ext cx="5120640" cy="34747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300" u="none" cap="none" strike="noStrike">
                <a:solidFill>
                  <a:srgbClr val="333333"/>
                </a:solidFill>
                <a:latin typeface="Calibri"/>
                <a:ea typeface="Calibri"/>
                <a:cs typeface="Calibri"/>
                <a:sym typeface="Calibri"/>
              </a:rPr>
              <a:t>Zig-Zag</a:t>
            </a:r>
            <a:endParaRPr/>
          </a:p>
        </p:txBody>
      </p:sp>
      <p:sp>
        <p:nvSpPr>
          <p:cNvPr id="161" name="Google Shape;161;p3"/>
          <p:cNvSpPr/>
          <p:nvPr/>
        </p:nvSpPr>
        <p:spPr>
          <a:xfrm>
            <a:off x="6400800" y="4224528"/>
            <a:ext cx="164592" cy="274320"/>
          </a:xfrm>
          <a:prstGeom prst="rect">
            <a:avLst/>
          </a:prstGeom>
          <a:solidFill>
            <a:srgbClr val="009BD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2" name="Google Shape;162;p3"/>
          <p:cNvSpPr txBox="1"/>
          <p:nvPr/>
        </p:nvSpPr>
        <p:spPr>
          <a:xfrm>
            <a:off x="6675120" y="4224528"/>
            <a:ext cx="5120640" cy="34747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300" u="none" cap="none" strike="noStrike">
                <a:solidFill>
                  <a:srgbClr val="333333"/>
                </a:solidFill>
                <a:latin typeface="Calibri"/>
                <a:ea typeface="Calibri"/>
                <a:cs typeface="Calibri"/>
                <a:sym typeface="Calibri"/>
              </a:rPr>
              <a:t>Scratch</a:t>
            </a:r>
            <a:endParaRPr/>
          </a:p>
        </p:txBody>
      </p:sp>
      <p:sp>
        <p:nvSpPr>
          <p:cNvPr id="163" name="Google Shape;163;p3"/>
          <p:cNvSpPr/>
          <p:nvPr/>
        </p:nvSpPr>
        <p:spPr>
          <a:xfrm>
            <a:off x="365760" y="5303520"/>
            <a:ext cx="11430000" cy="502920"/>
          </a:xfrm>
          <a:prstGeom prst="rect">
            <a:avLst/>
          </a:prstGeom>
          <a:solidFill>
            <a:srgbClr val="E8F4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4" name="Google Shape;164;p3"/>
          <p:cNvSpPr txBox="1"/>
          <p:nvPr/>
        </p:nvSpPr>
        <p:spPr>
          <a:xfrm>
            <a:off x="502920" y="5349240"/>
            <a:ext cx="11155680" cy="4114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003578"/>
                </a:solidFill>
                <a:latin typeface="Calibri"/>
                <a:ea typeface="Calibri"/>
                <a:cs typeface="Calibri"/>
                <a:sym typeface="Calibri"/>
              </a:rPr>
              <a:t>⚡  Images ~68×136px (H×W) grayscale · Perfectly balanced splits · MIXED class used only for binary detection</a:t>
            </a:r>
            <a:endParaRPr/>
          </a:p>
        </p:txBody>
      </p:sp>
      <p:sp>
        <p:nvSpPr>
          <p:cNvPr id="165" name="Google Shape;165;p3"/>
          <p:cNvSpPr/>
          <p:nvPr/>
        </p:nvSpPr>
        <p:spPr>
          <a:xfrm>
            <a:off x="0" y="6537960"/>
            <a:ext cx="12188952" cy="320040"/>
          </a:xfrm>
          <a:prstGeom prst="rect">
            <a:avLst/>
          </a:prstGeom>
          <a:solidFill>
            <a:srgbClr val="00357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6" name="Google Shape;166;p3"/>
          <p:cNvSpPr txBox="1"/>
          <p:nvPr/>
        </p:nvSpPr>
        <p:spPr>
          <a:xfrm>
            <a:off x="274320" y="6556248"/>
            <a:ext cx="11613000" cy="246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000" u="none" cap="none" strike="noStrike">
                <a:solidFill>
                  <a:srgbClr val="FFFFFF"/>
                </a:solidFill>
                <a:latin typeface="Calibri"/>
                <a:ea typeface="Calibri"/>
                <a:cs typeface="Calibri"/>
                <a:sym typeface="Calibri"/>
              </a:rPr>
              <a:t>D7047E Advanced Deep Learning  |  Group 14  |  LTU 2026 | </a:t>
            </a:r>
            <a:r>
              <a:rPr lang="en-US" sz="1000">
                <a:solidFill>
                  <a:srgbClr val="FFFFFF"/>
                </a:solidFill>
                <a:latin typeface="Calibri"/>
                <a:ea typeface="Calibri"/>
                <a:cs typeface="Calibri"/>
                <a:sym typeface="Calibri"/>
              </a:rPr>
              <a:t>L</a:t>
            </a:r>
            <a:endParaRPr/>
          </a:p>
        </p:txBody>
      </p:sp>
      <p:pic>
        <p:nvPicPr>
          <p:cNvPr id="167" name="Google Shape;167;p3"/>
          <p:cNvPicPr preferRelativeResize="0"/>
          <p:nvPr/>
        </p:nvPicPr>
        <p:blipFill>
          <a:blip r:embed="rId3">
            <a:alphaModFix/>
          </a:blip>
          <a:stretch>
            <a:fillRect/>
          </a:stretch>
        </p:blipFill>
        <p:spPr>
          <a:xfrm>
            <a:off x="7813446" y="2164183"/>
            <a:ext cx="3939192" cy="18712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4"/>
          <p:cNvSpPr/>
          <p:nvPr/>
        </p:nvSpPr>
        <p:spPr>
          <a:xfrm>
            <a:off x="0" y="0"/>
            <a:ext cx="12188952" cy="1280160"/>
          </a:xfrm>
          <a:prstGeom prst="rect">
            <a:avLst/>
          </a:prstGeom>
          <a:solidFill>
            <a:srgbClr val="00357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3" name="Google Shape;173;p4"/>
          <p:cNvSpPr/>
          <p:nvPr/>
        </p:nvSpPr>
        <p:spPr>
          <a:xfrm>
            <a:off x="0" y="1280160"/>
            <a:ext cx="12188952" cy="73152"/>
          </a:xfrm>
          <a:prstGeom prst="rect">
            <a:avLst/>
          </a:prstGeom>
          <a:solidFill>
            <a:srgbClr val="009BD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4" name="Google Shape;174;p4"/>
          <p:cNvSpPr txBox="1"/>
          <p:nvPr/>
        </p:nvSpPr>
        <p:spPr>
          <a:xfrm>
            <a:off x="365760" y="164592"/>
            <a:ext cx="10972800" cy="7315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800" u="none" cap="none" strike="noStrike">
                <a:solidFill>
                  <a:srgbClr val="FFFFFF"/>
                </a:solidFill>
                <a:latin typeface="Calibri"/>
                <a:ea typeface="Calibri"/>
                <a:cs typeface="Calibri"/>
                <a:sym typeface="Calibri"/>
              </a:rPr>
              <a:t>Pre-processing &amp; Augmentation</a:t>
            </a:r>
            <a:endParaRPr/>
          </a:p>
        </p:txBody>
      </p:sp>
      <p:sp>
        <p:nvSpPr>
          <p:cNvPr id="175" name="Google Shape;175;p4"/>
          <p:cNvSpPr txBox="1"/>
          <p:nvPr/>
        </p:nvSpPr>
        <p:spPr>
          <a:xfrm>
            <a:off x="365760" y="841248"/>
            <a:ext cx="1097280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009BDE"/>
                </a:solidFill>
                <a:latin typeface="Calibri"/>
                <a:ea typeface="Calibri"/>
                <a:cs typeface="Calibri"/>
                <a:sym typeface="Calibri"/>
              </a:rPr>
              <a:t>Preserving cross-out geometry</a:t>
            </a:r>
            <a:endParaRPr/>
          </a:p>
        </p:txBody>
      </p:sp>
      <p:sp>
        <p:nvSpPr>
          <p:cNvPr id="176" name="Google Shape;176;p4"/>
          <p:cNvSpPr txBox="1"/>
          <p:nvPr/>
        </p:nvSpPr>
        <p:spPr>
          <a:xfrm>
            <a:off x="365760" y="1508760"/>
            <a:ext cx="548640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rgbClr val="003578"/>
                </a:solidFill>
                <a:latin typeface="Calibri"/>
                <a:ea typeface="Calibri"/>
                <a:cs typeface="Calibri"/>
                <a:sym typeface="Calibri"/>
              </a:rPr>
              <a:t>Pre-processing (all splits)</a:t>
            </a:r>
            <a:endParaRPr/>
          </a:p>
        </p:txBody>
      </p:sp>
      <p:sp>
        <p:nvSpPr>
          <p:cNvPr id="177" name="Google Shape;177;p4"/>
          <p:cNvSpPr/>
          <p:nvPr/>
        </p:nvSpPr>
        <p:spPr>
          <a:xfrm>
            <a:off x="365760" y="1920240"/>
            <a:ext cx="274320" cy="347472"/>
          </a:xfrm>
          <a:prstGeom prst="rect">
            <a:avLst/>
          </a:prstGeom>
          <a:solidFill>
            <a:srgbClr val="00357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8" name="Google Shape;178;p4"/>
          <p:cNvSpPr txBox="1"/>
          <p:nvPr/>
        </p:nvSpPr>
        <p:spPr>
          <a:xfrm>
            <a:off x="365760" y="1920240"/>
            <a:ext cx="274320" cy="34747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u="none" cap="none" strike="noStrike">
                <a:solidFill>
                  <a:srgbClr val="FFFFFF"/>
                </a:solidFill>
                <a:latin typeface="Calibri"/>
                <a:ea typeface="Calibri"/>
                <a:cs typeface="Calibri"/>
                <a:sym typeface="Calibri"/>
              </a:rPr>
              <a:t>①</a:t>
            </a:r>
            <a:endParaRPr/>
          </a:p>
        </p:txBody>
      </p:sp>
      <p:sp>
        <p:nvSpPr>
          <p:cNvPr id="179" name="Google Shape;179;p4"/>
          <p:cNvSpPr txBox="1"/>
          <p:nvPr/>
        </p:nvSpPr>
        <p:spPr>
          <a:xfrm>
            <a:off x="749808" y="1938528"/>
            <a:ext cx="5303520" cy="4114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300" u="none" cap="none" strike="noStrike">
                <a:solidFill>
                  <a:srgbClr val="333333"/>
                </a:solidFill>
                <a:latin typeface="Calibri"/>
                <a:ea typeface="Calibri"/>
                <a:cs typeface="Calibri"/>
                <a:sym typeface="Calibri"/>
              </a:rPr>
              <a:t>Grayscale → 3-channel (RGB) for ImageNet compatibility</a:t>
            </a:r>
            <a:endParaRPr/>
          </a:p>
        </p:txBody>
      </p:sp>
      <p:sp>
        <p:nvSpPr>
          <p:cNvPr id="180" name="Google Shape;180;p4"/>
          <p:cNvSpPr/>
          <p:nvPr/>
        </p:nvSpPr>
        <p:spPr>
          <a:xfrm>
            <a:off x="365760" y="2395728"/>
            <a:ext cx="274320" cy="347472"/>
          </a:xfrm>
          <a:prstGeom prst="rect">
            <a:avLst/>
          </a:prstGeom>
          <a:solidFill>
            <a:srgbClr val="00357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1" name="Google Shape;181;p4"/>
          <p:cNvSpPr txBox="1"/>
          <p:nvPr/>
        </p:nvSpPr>
        <p:spPr>
          <a:xfrm>
            <a:off x="365760" y="2395728"/>
            <a:ext cx="274320" cy="34747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u="none" cap="none" strike="noStrike">
                <a:solidFill>
                  <a:srgbClr val="FFFFFF"/>
                </a:solidFill>
                <a:latin typeface="Calibri"/>
                <a:ea typeface="Calibri"/>
                <a:cs typeface="Calibri"/>
                <a:sym typeface="Calibri"/>
              </a:rPr>
              <a:t>②</a:t>
            </a:r>
            <a:endParaRPr/>
          </a:p>
        </p:txBody>
      </p:sp>
      <p:sp>
        <p:nvSpPr>
          <p:cNvPr id="182" name="Google Shape;182;p4"/>
          <p:cNvSpPr txBox="1"/>
          <p:nvPr/>
        </p:nvSpPr>
        <p:spPr>
          <a:xfrm>
            <a:off x="749808" y="2414016"/>
            <a:ext cx="5303520" cy="4114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300" u="none" cap="none" strike="noStrike">
                <a:solidFill>
                  <a:srgbClr val="333333"/>
                </a:solidFill>
                <a:latin typeface="Calibri"/>
                <a:ea typeface="Calibri"/>
                <a:cs typeface="Calibri"/>
                <a:sym typeface="Calibri"/>
              </a:rPr>
              <a:t>PadToSquare — symmetric white padding, preserves aspect ratio</a:t>
            </a:r>
            <a:endParaRPr/>
          </a:p>
        </p:txBody>
      </p:sp>
      <p:sp>
        <p:nvSpPr>
          <p:cNvPr id="183" name="Google Shape;183;p4"/>
          <p:cNvSpPr/>
          <p:nvPr/>
        </p:nvSpPr>
        <p:spPr>
          <a:xfrm>
            <a:off x="365760" y="2871216"/>
            <a:ext cx="274320" cy="347472"/>
          </a:xfrm>
          <a:prstGeom prst="rect">
            <a:avLst/>
          </a:prstGeom>
          <a:solidFill>
            <a:srgbClr val="00357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4" name="Google Shape;184;p4"/>
          <p:cNvSpPr txBox="1"/>
          <p:nvPr/>
        </p:nvSpPr>
        <p:spPr>
          <a:xfrm>
            <a:off x="365760" y="2871216"/>
            <a:ext cx="274320" cy="34747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u="none" cap="none" strike="noStrike">
                <a:solidFill>
                  <a:srgbClr val="FFFFFF"/>
                </a:solidFill>
                <a:latin typeface="Calibri"/>
                <a:ea typeface="Calibri"/>
                <a:cs typeface="Calibri"/>
                <a:sym typeface="Calibri"/>
              </a:rPr>
              <a:t>③</a:t>
            </a:r>
            <a:endParaRPr/>
          </a:p>
        </p:txBody>
      </p:sp>
      <p:sp>
        <p:nvSpPr>
          <p:cNvPr id="185" name="Google Shape;185;p4"/>
          <p:cNvSpPr txBox="1"/>
          <p:nvPr/>
        </p:nvSpPr>
        <p:spPr>
          <a:xfrm>
            <a:off x="749808" y="2889504"/>
            <a:ext cx="5303520" cy="4114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300" u="none" cap="none" strike="noStrike">
                <a:solidFill>
                  <a:srgbClr val="333333"/>
                </a:solidFill>
                <a:latin typeface="Calibri"/>
                <a:ea typeface="Calibri"/>
                <a:cs typeface="Calibri"/>
                <a:sym typeface="Calibri"/>
              </a:rPr>
              <a:t>Resize to 224×224</a:t>
            </a:r>
            <a:endParaRPr/>
          </a:p>
        </p:txBody>
      </p:sp>
      <p:sp>
        <p:nvSpPr>
          <p:cNvPr id="186" name="Google Shape;186;p4"/>
          <p:cNvSpPr/>
          <p:nvPr/>
        </p:nvSpPr>
        <p:spPr>
          <a:xfrm>
            <a:off x="365760" y="3346704"/>
            <a:ext cx="274320" cy="347472"/>
          </a:xfrm>
          <a:prstGeom prst="rect">
            <a:avLst/>
          </a:prstGeom>
          <a:solidFill>
            <a:srgbClr val="00357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7" name="Google Shape;187;p4"/>
          <p:cNvSpPr txBox="1"/>
          <p:nvPr/>
        </p:nvSpPr>
        <p:spPr>
          <a:xfrm>
            <a:off x="365760" y="3346704"/>
            <a:ext cx="274320" cy="34747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u="none" cap="none" strike="noStrike">
                <a:solidFill>
                  <a:srgbClr val="FFFFFF"/>
                </a:solidFill>
                <a:latin typeface="Calibri"/>
                <a:ea typeface="Calibri"/>
                <a:cs typeface="Calibri"/>
                <a:sym typeface="Calibri"/>
              </a:rPr>
              <a:t>④</a:t>
            </a:r>
            <a:endParaRPr/>
          </a:p>
        </p:txBody>
      </p:sp>
      <p:sp>
        <p:nvSpPr>
          <p:cNvPr id="188" name="Google Shape;188;p4"/>
          <p:cNvSpPr txBox="1"/>
          <p:nvPr/>
        </p:nvSpPr>
        <p:spPr>
          <a:xfrm>
            <a:off x="749808" y="3364992"/>
            <a:ext cx="5303520" cy="4114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300" u="none" cap="none" strike="noStrike">
                <a:solidFill>
                  <a:srgbClr val="333333"/>
                </a:solidFill>
                <a:latin typeface="Calibri"/>
                <a:ea typeface="Calibri"/>
                <a:cs typeface="Calibri"/>
                <a:sym typeface="Calibri"/>
              </a:rPr>
              <a:t>Normalize with ImageNet μ/σ</a:t>
            </a:r>
            <a:endParaRPr/>
          </a:p>
        </p:txBody>
      </p:sp>
      <p:sp>
        <p:nvSpPr>
          <p:cNvPr id="189" name="Google Shape;189;p4"/>
          <p:cNvSpPr/>
          <p:nvPr/>
        </p:nvSpPr>
        <p:spPr>
          <a:xfrm>
            <a:off x="6217920" y="1417320"/>
            <a:ext cx="36576" cy="5120640"/>
          </a:xfrm>
          <a:prstGeom prst="rect">
            <a:avLst/>
          </a:prstGeom>
          <a:solidFill>
            <a:srgbClr val="009BD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0" name="Google Shape;190;p4"/>
          <p:cNvSpPr txBox="1"/>
          <p:nvPr/>
        </p:nvSpPr>
        <p:spPr>
          <a:xfrm>
            <a:off x="6400800" y="1508760"/>
            <a:ext cx="5486400" cy="338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rgbClr val="003578"/>
                </a:solidFill>
                <a:latin typeface="Calibri"/>
                <a:ea typeface="Calibri"/>
                <a:cs typeface="Calibri"/>
                <a:sym typeface="Calibri"/>
              </a:rPr>
              <a:t>Training Augmentation </a:t>
            </a:r>
            <a:endParaRPr/>
          </a:p>
        </p:txBody>
      </p:sp>
      <p:sp>
        <p:nvSpPr>
          <p:cNvPr id="191" name="Google Shape;191;p4"/>
          <p:cNvSpPr/>
          <p:nvPr/>
        </p:nvSpPr>
        <p:spPr>
          <a:xfrm>
            <a:off x="6400800" y="1920240"/>
            <a:ext cx="274320" cy="347472"/>
          </a:xfrm>
          <a:prstGeom prst="rect">
            <a:avLst/>
          </a:prstGeom>
          <a:solidFill>
            <a:srgbClr val="009BD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2" name="Google Shape;192;p4"/>
          <p:cNvSpPr txBox="1"/>
          <p:nvPr/>
        </p:nvSpPr>
        <p:spPr>
          <a:xfrm>
            <a:off x="6400800" y="1920240"/>
            <a:ext cx="274320" cy="34747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300" u="none" cap="none" strike="noStrike">
                <a:solidFill>
                  <a:srgbClr val="FFFFFF"/>
                </a:solidFill>
                <a:latin typeface="Calibri"/>
                <a:ea typeface="Calibri"/>
                <a:cs typeface="Calibri"/>
                <a:sym typeface="Calibri"/>
              </a:rPr>
              <a:t>↻</a:t>
            </a:r>
            <a:endParaRPr/>
          </a:p>
        </p:txBody>
      </p:sp>
      <p:sp>
        <p:nvSpPr>
          <p:cNvPr id="193" name="Google Shape;193;p4"/>
          <p:cNvSpPr txBox="1"/>
          <p:nvPr/>
        </p:nvSpPr>
        <p:spPr>
          <a:xfrm>
            <a:off x="6784848" y="1938528"/>
            <a:ext cx="5120640" cy="4114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300" u="none" cap="none" strike="noStrike">
                <a:solidFill>
                  <a:srgbClr val="333333"/>
                </a:solidFill>
                <a:latin typeface="Calibri"/>
                <a:ea typeface="Calibri"/>
                <a:cs typeface="Calibri"/>
                <a:sym typeface="Calibri"/>
              </a:rPr>
              <a:t>RandomRotation ±5° — tilted paper/camera</a:t>
            </a:r>
            <a:endParaRPr/>
          </a:p>
        </p:txBody>
      </p:sp>
      <p:sp>
        <p:nvSpPr>
          <p:cNvPr id="194" name="Google Shape;194;p4"/>
          <p:cNvSpPr/>
          <p:nvPr/>
        </p:nvSpPr>
        <p:spPr>
          <a:xfrm>
            <a:off x="6400800" y="2395728"/>
            <a:ext cx="274320" cy="347472"/>
          </a:xfrm>
          <a:prstGeom prst="rect">
            <a:avLst/>
          </a:prstGeom>
          <a:solidFill>
            <a:srgbClr val="009BD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5" name="Google Shape;195;p4"/>
          <p:cNvSpPr txBox="1"/>
          <p:nvPr/>
        </p:nvSpPr>
        <p:spPr>
          <a:xfrm>
            <a:off x="6400800" y="2395728"/>
            <a:ext cx="274320" cy="34747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300" u="none" cap="none" strike="noStrike">
                <a:solidFill>
                  <a:srgbClr val="FFFFFF"/>
                </a:solidFill>
                <a:latin typeface="Calibri"/>
                <a:ea typeface="Calibri"/>
                <a:cs typeface="Calibri"/>
                <a:sym typeface="Calibri"/>
              </a:rPr>
              <a:t>⇄</a:t>
            </a:r>
            <a:endParaRPr/>
          </a:p>
        </p:txBody>
      </p:sp>
      <p:sp>
        <p:nvSpPr>
          <p:cNvPr id="196" name="Google Shape;196;p4"/>
          <p:cNvSpPr txBox="1"/>
          <p:nvPr/>
        </p:nvSpPr>
        <p:spPr>
          <a:xfrm>
            <a:off x="6784848" y="2414016"/>
            <a:ext cx="5120700" cy="492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300" u="none" cap="none" strike="noStrike">
                <a:solidFill>
                  <a:srgbClr val="333333"/>
                </a:solidFill>
                <a:latin typeface="Calibri"/>
                <a:ea typeface="Calibri"/>
                <a:cs typeface="Calibri"/>
                <a:sym typeface="Calibri"/>
              </a:rPr>
              <a:t>RandomAffine — 5% translation shift (</a:t>
            </a:r>
            <a:r>
              <a:rPr lang="en-US" sz="1300">
                <a:solidFill>
                  <a:srgbClr val="333333"/>
                </a:solidFill>
                <a:latin typeface="Calibri"/>
                <a:ea typeface="Calibri"/>
                <a:cs typeface="Calibri"/>
                <a:sym typeface="Calibri"/>
              </a:rPr>
              <a:t>simulate that the word not at the center)</a:t>
            </a:r>
            <a:endParaRPr/>
          </a:p>
        </p:txBody>
      </p:sp>
      <p:sp>
        <p:nvSpPr>
          <p:cNvPr id="197" name="Google Shape;197;p4"/>
          <p:cNvSpPr/>
          <p:nvPr/>
        </p:nvSpPr>
        <p:spPr>
          <a:xfrm>
            <a:off x="6400800" y="2871216"/>
            <a:ext cx="274320" cy="347472"/>
          </a:xfrm>
          <a:prstGeom prst="rect">
            <a:avLst/>
          </a:prstGeom>
          <a:solidFill>
            <a:srgbClr val="009BD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8" name="Google Shape;198;p4"/>
          <p:cNvSpPr txBox="1"/>
          <p:nvPr/>
        </p:nvSpPr>
        <p:spPr>
          <a:xfrm>
            <a:off x="6400800" y="2871216"/>
            <a:ext cx="274320" cy="34747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300" u="none" cap="none" strike="noStrike">
                <a:solidFill>
                  <a:srgbClr val="FFFFFF"/>
                </a:solidFill>
                <a:latin typeface="Calibri"/>
                <a:ea typeface="Calibri"/>
                <a:cs typeface="Calibri"/>
                <a:sym typeface="Calibri"/>
              </a:rPr>
              <a:t>⬡</a:t>
            </a:r>
            <a:endParaRPr/>
          </a:p>
        </p:txBody>
      </p:sp>
      <p:sp>
        <p:nvSpPr>
          <p:cNvPr id="199" name="Google Shape;199;p4"/>
          <p:cNvSpPr txBox="1"/>
          <p:nvPr/>
        </p:nvSpPr>
        <p:spPr>
          <a:xfrm>
            <a:off x="6784848" y="2889504"/>
            <a:ext cx="5120640" cy="4114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300" u="none" cap="none" strike="noStrike">
                <a:solidFill>
                  <a:srgbClr val="333333"/>
                </a:solidFill>
                <a:latin typeface="Calibri"/>
                <a:ea typeface="Calibri"/>
                <a:cs typeface="Calibri"/>
                <a:sym typeface="Calibri"/>
              </a:rPr>
              <a:t>RandomPerspective (p=0.5) — angled capture</a:t>
            </a:r>
            <a:endParaRPr/>
          </a:p>
        </p:txBody>
      </p:sp>
      <p:sp>
        <p:nvSpPr>
          <p:cNvPr id="200" name="Google Shape;200;p4"/>
          <p:cNvSpPr/>
          <p:nvPr/>
        </p:nvSpPr>
        <p:spPr>
          <a:xfrm>
            <a:off x="6400800" y="3346704"/>
            <a:ext cx="274320" cy="347472"/>
          </a:xfrm>
          <a:prstGeom prst="rect">
            <a:avLst/>
          </a:prstGeom>
          <a:solidFill>
            <a:srgbClr val="009BD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1" name="Google Shape;201;p4"/>
          <p:cNvSpPr txBox="1"/>
          <p:nvPr/>
        </p:nvSpPr>
        <p:spPr>
          <a:xfrm>
            <a:off x="6400800" y="3346704"/>
            <a:ext cx="274320" cy="34747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300" u="none" cap="none" strike="noStrike">
                <a:solidFill>
                  <a:srgbClr val="FFFFFF"/>
                </a:solidFill>
                <a:latin typeface="Calibri"/>
                <a:ea typeface="Calibri"/>
                <a:cs typeface="Calibri"/>
                <a:sym typeface="Calibri"/>
              </a:rPr>
              <a:t>~</a:t>
            </a:r>
            <a:endParaRPr/>
          </a:p>
        </p:txBody>
      </p:sp>
      <p:sp>
        <p:nvSpPr>
          <p:cNvPr id="202" name="Google Shape;202;p4"/>
          <p:cNvSpPr txBox="1"/>
          <p:nvPr/>
        </p:nvSpPr>
        <p:spPr>
          <a:xfrm>
            <a:off x="6784848" y="3364992"/>
            <a:ext cx="5120700" cy="292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300" u="none" cap="none" strike="noStrike">
                <a:solidFill>
                  <a:srgbClr val="333333"/>
                </a:solidFill>
                <a:latin typeface="Calibri"/>
                <a:ea typeface="Calibri"/>
                <a:cs typeface="Calibri"/>
                <a:sym typeface="Calibri"/>
              </a:rPr>
              <a:t>GaussianBlur σ∈[0.1,1.0] — camera blur </a:t>
            </a:r>
            <a:r>
              <a:rPr lang="en-US" sz="1300">
                <a:solidFill>
                  <a:srgbClr val="333333"/>
                </a:solidFill>
                <a:latin typeface="Calibri"/>
                <a:ea typeface="Calibri"/>
                <a:cs typeface="Calibri"/>
                <a:sym typeface="Calibri"/>
              </a:rPr>
              <a:t>, scan variations</a:t>
            </a:r>
            <a:endParaRPr/>
          </a:p>
        </p:txBody>
      </p:sp>
      <p:sp>
        <p:nvSpPr>
          <p:cNvPr id="203" name="Google Shape;203;p4"/>
          <p:cNvSpPr/>
          <p:nvPr/>
        </p:nvSpPr>
        <p:spPr>
          <a:xfrm>
            <a:off x="6400800" y="3822191"/>
            <a:ext cx="274320" cy="347472"/>
          </a:xfrm>
          <a:prstGeom prst="rect">
            <a:avLst/>
          </a:prstGeom>
          <a:solidFill>
            <a:srgbClr val="009BD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4" name="Google Shape;204;p4"/>
          <p:cNvSpPr txBox="1"/>
          <p:nvPr/>
        </p:nvSpPr>
        <p:spPr>
          <a:xfrm>
            <a:off x="6400800" y="3822191"/>
            <a:ext cx="274320" cy="34747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300" u="none" cap="none" strike="noStrike">
                <a:solidFill>
                  <a:srgbClr val="FFFFFF"/>
                </a:solidFill>
                <a:latin typeface="Calibri"/>
                <a:ea typeface="Calibri"/>
                <a:cs typeface="Calibri"/>
                <a:sym typeface="Calibri"/>
              </a:rPr>
              <a:t>◐</a:t>
            </a:r>
            <a:endParaRPr/>
          </a:p>
        </p:txBody>
      </p:sp>
      <p:sp>
        <p:nvSpPr>
          <p:cNvPr id="205" name="Google Shape;205;p4"/>
          <p:cNvSpPr txBox="1"/>
          <p:nvPr/>
        </p:nvSpPr>
        <p:spPr>
          <a:xfrm>
            <a:off x="6784848" y="3840480"/>
            <a:ext cx="5120640" cy="4114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300" u="none" cap="none" strike="noStrike">
                <a:solidFill>
                  <a:srgbClr val="333333"/>
                </a:solidFill>
                <a:latin typeface="Calibri"/>
                <a:ea typeface="Calibri"/>
                <a:cs typeface="Calibri"/>
                <a:sym typeface="Calibri"/>
              </a:rPr>
              <a:t>ColorJitter ±0.3 — lighting variation</a:t>
            </a:r>
            <a:endParaRPr/>
          </a:p>
        </p:txBody>
      </p:sp>
      <p:sp>
        <p:nvSpPr>
          <p:cNvPr id="206" name="Google Shape;206;p4"/>
          <p:cNvSpPr/>
          <p:nvPr/>
        </p:nvSpPr>
        <p:spPr>
          <a:xfrm>
            <a:off x="0" y="6537960"/>
            <a:ext cx="12188952" cy="320040"/>
          </a:xfrm>
          <a:prstGeom prst="rect">
            <a:avLst/>
          </a:prstGeom>
          <a:solidFill>
            <a:srgbClr val="00357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7" name="Google Shape;207;p4"/>
          <p:cNvSpPr txBox="1"/>
          <p:nvPr/>
        </p:nvSpPr>
        <p:spPr>
          <a:xfrm>
            <a:off x="274320" y="6556248"/>
            <a:ext cx="11613000" cy="246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000" u="none" cap="none" strike="noStrike">
                <a:solidFill>
                  <a:srgbClr val="FFFFFF"/>
                </a:solidFill>
                <a:latin typeface="Calibri"/>
                <a:ea typeface="Calibri"/>
                <a:cs typeface="Calibri"/>
                <a:sym typeface="Calibri"/>
              </a:rPr>
              <a:t>D7047E Advanced Deep Learning  |  Group 14  |  LTU 2026 |L/C</a:t>
            </a:r>
            <a:endParaRPr/>
          </a:p>
        </p:txBody>
      </p:sp>
      <p:pic>
        <p:nvPicPr>
          <p:cNvPr id="208" name="Google Shape;208;p4"/>
          <p:cNvPicPr preferRelativeResize="0"/>
          <p:nvPr/>
        </p:nvPicPr>
        <p:blipFill>
          <a:blip r:embed="rId3">
            <a:alphaModFix/>
          </a:blip>
          <a:stretch>
            <a:fillRect/>
          </a:stretch>
        </p:blipFill>
        <p:spPr>
          <a:xfrm>
            <a:off x="3177000" y="2743200"/>
            <a:ext cx="2194376" cy="831900"/>
          </a:xfrm>
          <a:prstGeom prst="rect">
            <a:avLst/>
          </a:prstGeom>
          <a:solidFill>
            <a:srgbClr val="FFFFFF"/>
          </a:solidFill>
          <a:ln>
            <a:noFill/>
          </a:ln>
          <a:effectLst>
            <a:outerShdw blurRad="40000" rotWithShape="0" dir="5400000" dist="23000">
              <a:srgbClr val="000000">
                <a:alpha val="34900"/>
              </a:srgbClr>
            </a:outerShdw>
          </a:effectLst>
        </p:spPr>
      </p:pic>
      <p:sp>
        <p:nvSpPr>
          <p:cNvPr id="209" name="Google Shape;209;p4"/>
          <p:cNvSpPr txBox="1"/>
          <p:nvPr/>
        </p:nvSpPr>
        <p:spPr>
          <a:xfrm>
            <a:off x="6514048" y="4585193"/>
            <a:ext cx="5120700" cy="492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300">
                <a:solidFill>
                  <a:srgbClr val="333333"/>
                </a:solidFill>
                <a:latin typeface="Calibri"/>
                <a:ea typeface="Calibri"/>
                <a:cs typeface="Calibri"/>
                <a:sym typeface="Calibri"/>
              </a:rPr>
              <a:t>IAM dataset are clean scans, these are done so that it generalizes well for custom data set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5"/>
          <p:cNvSpPr/>
          <p:nvPr/>
        </p:nvSpPr>
        <p:spPr>
          <a:xfrm>
            <a:off x="0" y="0"/>
            <a:ext cx="12188952" cy="1280160"/>
          </a:xfrm>
          <a:prstGeom prst="rect">
            <a:avLst/>
          </a:prstGeom>
          <a:solidFill>
            <a:srgbClr val="00357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5" name="Google Shape;215;p5"/>
          <p:cNvSpPr/>
          <p:nvPr/>
        </p:nvSpPr>
        <p:spPr>
          <a:xfrm>
            <a:off x="0" y="1280160"/>
            <a:ext cx="12188952" cy="73152"/>
          </a:xfrm>
          <a:prstGeom prst="rect">
            <a:avLst/>
          </a:prstGeom>
          <a:solidFill>
            <a:srgbClr val="009BD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6" name="Google Shape;216;p5"/>
          <p:cNvSpPr txBox="1"/>
          <p:nvPr/>
        </p:nvSpPr>
        <p:spPr>
          <a:xfrm>
            <a:off x="365760" y="164592"/>
            <a:ext cx="10972800" cy="7315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800" u="none" cap="none" strike="noStrike">
                <a:solidFill>
                  <a:srgbClr val="FFFFFF"/>
                </a:solidFill>
                <a:latin typeface="Calibri"/>
                <a:ea typeface="Calibri"/>
                <a:cs typeface="Calibri"/>
                <a:sym typeface="Calibri"/>
              </a:rPr>
              <a:t>Task 1 — Binary Classification</a:t>
            </a:r>
            <a:endParaRPr/>
          </a:p>
        </p:txBody>
      </p:sp>
      <p:sp>
        <p:nvSpPr>
          <p:cNvPr id="217" name="Google Shape;217;p5"/>
          <p:cNvSpPr txBox="1"/>
          <p:nvPr/>
        </p:nvSpPr>
        <p:spPr>
          <a:xfrm>
            <a:off x="365760" y="841248"/>
            <a:ext cx="1097280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009BDE"/>
                </a:solidFill>
                <a:latin typeface="Calibri"/>
                <a:ea typeface="Calibri"/>
                <a:cs typeface="Calibri"/>
                <a:sym typeface="Calibri"/>
              </a:rPr>
              <a:t>CLEAN (0) vs CROSSED-OUT (1)</a:t>
            </a:r>
            <a:endParaRPr/>
          </a:p>
        </p:txBody>
      </p:sp>
      <p:sp>
        <p:nvSpPr>
          <p:cNvPr id="218" name="Google Shape;218;p5"/>
          <p:cNvSpPr/>
          <p:nvPr/>
        </p:nvSpPr>
        <p:spPr>
          <a:xfrm>
            <a:off x="0" y="1353312"/>
            <a:ext cx="12188952" cy="5504688"/>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9" name="Google Shape;219;p5"/>
          <p:cNvSpPr txBox="1"/>
          <p:nvPr/>
        </p:nvSpPr>
        <p:spPr>
          <a:xfrm>
            <a:off x="365760" y="1508760"/>
            <a:ext cx="1143000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rgbClr val="003578"/>
                </a:solidFill>
                <a:latin typeface="Calibri"/>
                <a:ea typeface="Calibri"/>
                <a:cs typeface="Calibri"/>
                <a:sym typeface="Calibri"/>
              </a:rPr>
              <a:t>Architecture — SimpleCNN (selected model)</a:t>
            </a:r>
            <a:endParaRPr/>
          </a:p>
        </p:txBody>
      </p:sp>
      <p:sp>
        <p:nvSpPr>
          <p:cNvPr id="220" name="Google Shape;220;p5"/>
          <p:cNvSpPr/>
          <p:nvPr/>
        </p:nvSpPr>
        <p:spPr>
          <a:xfrm>
            <a:off x="365760" y="1920240"/>
            <a:ext cx="54864" cy="292608"/>
          </a:xfrm>
          <a:prstGeom prst="rect">
            <a:avLst/>
          </a:prstGeom>
          <a:solidFill>
            <a:srgbClr val="009BD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1" name="Google Shape;221;p5"/>
          <p:cNvSpPr txBox="1"/>
          <p:nvPr/>
        </p:nvSpPr>
        <p:spPr>
          <a:xfrm>
            <a:off x="548640" y="1920240"/>
            <a:ext cx="11247000" cy="365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333333"/>
                </a:solidFill>
                <a:latin typeface="Calibri"/>
                <a:ea typeface="Calibri"/>
                <a:cs typeface="Calibri"/>
                <a:sym typeface="Calibri"/>
              </a:rPr>
              <a:t>Block 1 (224→112):  Conv(3→32)×2  +  BatchNorm  +  ReLU  +  MaxPool</a:t>
            </a:r>
            <a:endParaRPr/>
          </a:p>
        </p:txBody>
      </p:sp>
      <p:sp>
        <p:nvSpPr>
          <p:cNvPr id="222" name="Google Shape;222;p5"/>
          <p:cNvSpPr/>
          <p:nvPr/>
        </p:nvSpPr>
        <p:spPr>
          <a:xfrm>
            <a:off x="365760" y="2313432"/>
            <a:ext cx="54864" cy="292608"/>
          </a:xfrm>
          <a:prstGeom prst="rect">
            <a:avLst/>
          </a:prstGeom>
          <a:solidFill>
            <a:srgbClr val="009BD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3" name="Google Shape;223;p5"/>
          <p:cNvSpPr txBox="1"/>
          <p:nvPr/>
        </p:nvSpPr>
        <p:spPr>
          <a:xfrm>
            <a:off x="548640" y="2313432"/>
            <a:ext cx="112471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333333"/>
                </a:solidFill>
                <a:latin typeface="Calibri"/>
                <a:ea typeface="Calibri"/>
                <a:cs typeface="Calibri"/>
                <a:sym typeface="Calibri"/>
              </a:rPr>
              <a:t>Block 2 (112→56):   Conv(32→64)×2  +  BatchNorm  +  ReLU  +  MaxPool</a:t>
            </a:r>
            <a:endParaRPr/>
          </a:p>
        </p:txBody>
      </p:sp>
      <p:sp>
        <p:nvSpPr>
          <p:cNvPr id="224" name="Google Shape;224;p5"/>
          <p:cNvSpPr/>
          <p:nvPr/>
        </p:nvSpPr>
        <p:spPr>
          <a:xfrm>
            <a:off x="365760" y="2706624"/>
            <a:ext cx="54864" cy="292608"/>
          </a:xfrm>
          <a:prstGeom prst="rect">
            <a:avLst/>
          </a:prstGeom>
          <a:solidFill>
            <a:srgbClr val="009BD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5" name="Google Shape;225;p5"/>
          <p:cNvSpPr txBox="1"/>
          <p:nvPr/>
        </p:nvSpPr>
        <p:spPr>
          <a:xfrm>
            <a:off x="558666" y="2716650"/>
            <a:ext cx="11247000" cy="276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333333"/>
                </a:solidFill>
                <a:latin typeface="Calibri"/>
                <a:ea typeface="Calibri"/>
                <a:cs typeface="Calibri"/>
                <a:sym typeface="Calibri"/>
              </a:rPr>
              <a:t>Block 3 (56×56):    Conv(64→128)  +  Conv(128→128)  +  BatchNorm  +  ReLU  [no pool] </a:t>
            </a:r>
            <a:r>
              <a:rPr lang="en-US" sz="1200">
                <a:solidFill>
                  <a:srgbClr val="333333"/>
                </a:solidFill>
                <a:latin typeface="Calibri"/>
                <a:ea typeface="Calibri"/>
                <a:cs typeface="Calibri"/>
                <a:sym typeface="Calibri"/>
              </a:rPr>
              <a:t> </a:t>
            </a:r>
            <a:endParaRPr/>
          </a:p>
        </p:txBody>
      </p:sp>
      <p:sp>
        <p:nvSpPr>
          <p:cNvPr id="226" name="Google Shape;226;p5"/>
          <p:cNvSpPr/>
          <p:nvPr/>
        </p:nvSpPr>
        <p:spPr>
          <a:xfrm>
            <a:off x="365760" y="3099816"/>
            <a:ext cx="54864" cy="292608"/>
          </a:xfrm>
          <a:prstGeom prst="rect">
            <a:avLst/>
          </a:prstGeom>
          <a:solidFill>
            <a:srgbClr val="009BD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7" name="Google Shape;227;p5"/>
          <p:cNvSpPr txBox="1"/>
          <p:nvPr/>
        </p:nvSpPr>
        <p:spPr>
          <a:xfrm>
            <a:off x="558666" y="3119869"/>
            <a:ext cx="11247000" cy="276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333333"/>
                </a:solidFill>
                <a:latin typeface="Calibri"/>
                <a:ea typeface="Calibri"/>
                <a:cs typeface="Calibri"/>
                <a:sym typeface="Calibri"/>
              </a:rPr>
              <a:t>Block 4 (56×56):    Conv(128→256)  +  BatchNorm  +  ReLU  +  AdaptiveAvgPool(7×7)</a:t>
            </a:r>
            <a:endParaRPr/>
          </a:p>
        </p:txBody>
      </p:sp>
      <p:sp>
        <p:nvSpPr>
          <p:cNvPr id="228" name="Google Shape;228;p5"/>
          <p:cNvSpPr/>
          <p:nvPr/>
        </p:nvSpPr>
        <p:spPr>
          <a:xfrm>
            <a:off x="365760" y="3493008"/>
            <a:ext cx="54864" cy="292608"/>
          </a:xfrm>
          <a:prstGeom prst="rect">
            <a:avLst/>
          </a:prstGeom>
          <a:solidFill>
            <a:srgbClr val="009BD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9" name="Google Shape;229;p5"/>
          <p:cNvSpPr txBox="1"/>
          <p:nvPr/>
        </p:nvSpPr>
        <p:spPr>
          <a:xfrm>
            <a:off x="548640" y="3493008"/>
            <a:ext cx="1124712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333333"/>
                </a:solidFill>
                <a:latin typeface="Calibri"/>
                <a:ea typeface="Calibri"/>
                <a:cs typeface="Calibri"/>
                <a:sym typeface="Calibri"/>
              </a:rPr>
              <a:t>Head:               Flatten(12,544) → Linear(512) → Dropout(0.4) → Linear(128) → Dropout(0.3) → Linear(2)</a:t>
            </a:r>
            <a:endParaRPr/>
          </a:p>
        </p:txBody>
      </p:sp>
      <p:sp>
        <p:nvSpPr>
          <p:cNvPr id="230" name="Google Shape;230;p5"/>
          <p:cNvSpPr/>
          <p:nvPr/>
        </p:nvSpPr>
        <p:spPr>
          <a:xfrm>
            <a:off x="365760" y="3931920"/>
            <a:ext cx="11430000" cy="36576"/>
          </a:xfrm>
          <a:prstGeom prst="rect">
            <a:avLst/>
          </a:prstGeom>
          <a:solidFill>
            <a:srgbClr val="009BD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1" name="Google Shape;231;p5"/>
          <p:cNvSpPr txBox="1"/>
          <p:nvPr/>
        </p:nvSpPr>
        <p:spPr>
          <a:xfrm>
            <a:off x="365760" y="4023360"/>
            <a:ext cx="11430000" cy="5029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300" u="none" cap="none" strike="noStrike">
                <a:solidFill>
                  <a:srgbClr val="333333"/>
                </a:solidFill>
                <a:latin typeface="Calibri"/>
                <a:ea typeface="Calibri"/>
                <a:cs typeface="Calibri"/>
                <a:sym typeface="Calibri"/>
              </a:rPr>
              <a:t>Why SimpleCNN?  ResNet-50 and ViT-B/16 also trialled — after 5–10 epochs SimpleCNN matched their validation accuracy while training significantly faster.</a:t>
            </a:r>
            <a:endParaRPr/>
          </a:p>
        </p:txBody>
      </p:sp>
      <p:sp>
        <p:nvSpPr>
          <p:cNvPr id="232" name="Google Shape;232;p5"/>
          <p:cNvSpPr/>
          <p:nvPr/>
        </p:nvSpPr>
        <p:spPr>
          <a:xfrm>
            <a:off x="365760" y="4663440"/>
            <a:ext cx="11430000" cy="1463040"/>
          </a:xfrm>
          <a:prstGeom prst="rect">
            <a:avLst/>
          </a:prstGeom>
          <a:solidFill>
            <a:srgbClr val="E8F4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3" name="Google Shape;233;p5"/>
          <p:cNvSpPr txBox="1"/>
          <p:nvPr/>
        </p:nvSpPr>
        <p:spPr>
          <a:xfrm>
            <a:off x="548640" y="4709160"/>
            <a:ext cx="27432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003578"/>
                </a:solidFill>
                <a:latin typeface="Calibri"/>
                <a:ea typeface="Calibri"/>
                <a:cs typeface="Calibri"/>
                <a:sym typeface="Calibri"/>
              </a:rPr>
              <a:t>Results fo</a:t>
            </a:r>
            <a:r>
              <a:rPr b="1" lang="en-US">
                <a:solidFill>
                  <a:srgbClr val="003578"/>
                </a:solidFill>
                <a:latin typeface="Calibri"/>
                <a:ea typeface="Calibri"/>
                <a:cs typeface="Calibri"/>
                <a:sym typeface="Calibri"/>
              </a:rPr>
              <a:t>r CNN (selected)</a:t>
            </a:r>
            <a:endParaRPr/>
          </a:p>
        </p:txBody>
      </p:sp>
      <p:sp>
        <p:nvSpPr>
          <p:cNvPr id="234" name="Google Shape;234;p5"/>
          <p:cNvSpPr txBox="1"/>
          <p:nvPr/>
        </p:nvSpPr>
        <p:spPr>
          <a:xfrm>
            <a:off x="548640" y="5074920"/>
            <a:ext cx="2651760" cy="5029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2400" u="none" cap="none" strike="noStrike">
                <a:solidFill>
                  <a:srgbClr val="003578"/>
                </a:solidFill>
                <a:latin typeface="Calibri"/>
                <a:ea typeface="Calibri"/>
                <a:cs typeface="Calibri"/>
                <a:sym typeface="Calibri"/>
              </a:rPr>
              <a:t>0.9808</a:t>
            </a:r>
            <a:endParaRPr/>
          </a:p>
        </p:txBody>
      </p:sp>
      <p:sp>
        <p:nvSpPr>
          <p:cNvPr id="235" name="Google Shape;235;p5"/>
          <p:cNvSpPr txBox="1"/>
          <p:nvPr/>
        </p:nvSpPr>
        <p:spPr>
          <a:xfrm>
            <a:off x="548640" y="5532120"/>
            <a:ext cx="2651760" cy="32004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100" u="none" cap="none" strike="noStrike">
                <a:solidFill>
                  <a:srgbClr val="333333"/>
                </a:solidFill>
                <a:latin typeface="Calibri"/>
                <a:ea typeface="Calibri"/>
                <a:cs typeface="Calibri"/>
                <a:sym typeface="Calibri"/>
              </a:rPr>
              <a:t>Val Accuracy</a:t>
            </a:r>
            <a:endParaRPr/>
          </a:p>
        </p:txBody>
      </p:sp>
      <p:sp>
        <p:nvSpPr>
          <p:cNvPr id="236" name="Google Shape;236;p5"/>
          <p:cNvSpPr txBox="1"/>
          <p:nvPr/>
        </p:nvSpPr>
        <p:spPr>
          <a:xfrm>
            <a:off x="3337560" y="5074920"/>
            <a:ext cx="2651760" cy="5029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2400" u="none" cap="none" strike="noStrike">
                <a:solidFill>
                  <a:srgbClr val="003578"/>
                </a:solidFill>
                <a:latin typeface="Calibri"/>
                <a:ea typeface="Calibri"/>
                <a:cs typeface="Calibri"/>
                <a:sym typeface="Calibri"/>
              </a:rPr>
              <a:t>0.9908</a:t>
            </a:r>
            <a:endParaRPr/>
          </a:p>
        </p:txBody>
      </p:sp>
      <p:sp>
        <p:nvSpPr>
          <p:cNvPr id="237" name="Google Shape;237;p5"/>
          <p:cNvSpPr txBox="1"/>
          <p:nvPr/>
        </p:nvSpPr>
        <p:spPr>
          <a:xfrm>
            <a:off x="3337560" y="5532120"/>
            <a:ext cx="2651760" cy="32004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100" u="none" cap="none" strike="noStrike">
                <a:solidFill>
                  <a:srgbClr val="333333"/>
                </a:solidFill>
                <a:latin typeface="Calibri"/>
                <a:ea typeface="Calibri"/>
                <a:cs typeface="Calibri"/>
                <a:sym typeface="Calibri"/>
              </a:rPr>
              <a:t>IAM Test F1</a:t>
            </a:r>
            <a:endParaRPr/>
          </a:p>
        </p:txBody>
      </p:sp>
      <p:sp>
        <p:nvSpPr>
          <p:cNvPr id="238" name="Google Shape;238;p5"/>
          <p:cNvSpPr txBox="1"/>
          <p:nvPr/>
        </p:nvSpPr>
        <p:spPr>
          <a:xfrm>
            <a:off x="6126479" y="5074920"/>
            <a:ext cx="2651760" cy="5029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2400" u="none" cap="none" strike="noStrike">
                <a:solidFill>
                  <a:srgbClr val="003578"/>
                </a:solidFill>
                <a:latin typeface="Calibri"/>
                <a:ea typeface="Calibri"/>
                <a:cs typeface="Calibri"/>
                <a:sym typeface="Calibri"/>
              </a:rPr>
              <a:t>0.9320</a:t>
            </a:r>
            <a:endParaRPr/>
          </a:p>
        </p:txBody>
      </p:sp>
      <p:sp>
        <p:nvSpPr>
          <p:cNvPr id="239" name="Google Shape;239;p5"/>
          <p:cNvSpPr txBox="1"/>
          <p:nvPr/>
        </p:nvSpPr>
        <p:spPr>
          <a:xfrm>
            <a:off x="6126479" y="5532120"/>
            <a:ext cx="2651760" cy="32004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100" u="none" cap="none" strike="noStrike">
                <a:solidFill>
                  <a:srgbClr val="333333"/>
                </a:solidFill>
                <a:latin typeface="Calibri"/>
                <a:ea typeface="Calibri"/>
                <a:cs typeface="Calibri"/>
                <a:sym typeface="Calibri"/>
              </a:rPr>
              <a:t>Custom Dataset F1</a:t>
            </a:r>
            <a:endParaRPr/>
          </a:p>
        </p:txBody>
      </p:sp>
      <p:sp>
        <p:nvSpPr>
          <p:cNvPr id="240" name="Google Shape;240;p5"/>
          <p:cNvSpPr txBox="1"/>
          <p:nvPr/>
        </p:nvSpPr>
        <p:spPr>
          <a:xfrm>
            <a:off x="8915399" y="5074920"/>
            <a:ext cx="2651760" cy="5029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2400" u="none" cap="none" strike="noStrike">
                <a:solidFill>
                  <a:srgbClr val="003578"/>
                </a:solidFill>
                <a:latin typeface="Calibri"/>
                <a:ea typeface="Calibri"/>
                <a:cs typeface="Calibri"/>
                <a:sym typeface="Calibri"/>
              </a:rPr>
              <a:t>0.0587</a:t>
            </a:r>
            <a:endParaRPr/>
          </a:p>
        </p:txBody>
      </p:sp>
      <p:sp>
        <p:nvSpPr>
          <p:cNvPr id="241" name="Google Shape;241;p5"/>
          <p:cNvSpPr txBox="1"/>
          <p:nvPr/>
        </p:nvSpPr>
        <p:spPr>
          <a:xfrm>
            <a:off x="8915399" y="5532120"/>
            <a:ext cx="2651760" cy="32004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100" u="none" cap="none" strike="noStrike">
                <a:solidFill>
                  <a:srgbClr val="333333"/>
                </a:solidFill>
                <a:latin typeface="Calibri"/>
                <a:ea typeface="Calibri"/>
                <a:cs typeface="Calibri"/>
                <a:sym typeface="Calibri"/>
              </a:rPr>
              <a:t>Gen. Gap</a:t>
            </a:r>
            <a:endParaRPr/>
          </a:p>
        </p:txBody>
      </p:sp>
      <p:sp>
        <p:nvSpPr>
          <p:cNvPr id="242" name="Google Shape;242;p5"/>
          <p:cNvSpPr/>
          <p:nvPr/>
        </p:nvSpPr>
        <p:spPr>
          <a:xfrm>
            <a:off x="0" y="6537960"/>
            <a:ext cx="12188952" cy="320040"/>
          </a:xfrm>
          <a:prstGeom prst="rect">
            <a:avLst/>
          </a:prstGeom>
          <a:solidFill>
            <a:srgbClr val="00357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3" name="Google Shape;243;p5"/>
          <p:cNvSpPr txBox="1"/>
          <p:nvPr/>
        </p:nvSpPr>
        <p:spPr>
          <a:xfrm>
            <a:off x="274320" y="6556248"/>
            <a:ext cx="11613000" cy="246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000" u="none" cap="none" strike="noStrike">
                <a:solidFill>
                  <a:srgbClr val="FFFFFF"/>
                </a:solidFill>
                <a:latin typeface="Calibri"/>
                <a:ea typeface="Calibri"/>
                <a:cs typeface="Calibri"/>
                <a:sym typeface="Calibri"/>
              </a:rPr>
              <a:t>D7047E Advanced Deep Learning  |  Group 14  |  LTU 2026 |N/S</a:t>
            </a:r>
            <a:endParaRPr/>
          </a:p>
        </p:txBody>
      </p:sp>
      <p:pic>
        <p:nvPicPr>
          <p:cNvPr id="244" name="Google Shape;244;p5"/>
          <p:cNvPicPr preferRelativeResize="0"/>
          <p:nvPr/>
        </p:nvPicPr>
        <p:blipFill>
          <a:blip r:embed="rId3">
            <a:alphaModFix/>
          </a:blip>
          <a:stretch>
            <a:fillRect/>
          </a:stretch>
        </p:blipFill>
        <p:spPr>
          <a:xfrm>
            <a:off x="7289418" y="1874525"/>
            <a:ext cx="4755907" cy="175792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6"/>
          <p:cNvSpPr/>
          <p:nvPr/>
        </p:nvSpPr>
        <p:spPr>
          <a:xfrm>
            <a:off x="0" y="0"/>
            <a:ext cx="12188952" cy="1280160"/>
          </a:xfrm>
          <a:prstGeom prst="rect">
            <a:avLst/>
          </a:prstGeom>
          <a:solidFill>
            <a:srgbClr val="00357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0" name="Google Shape;250;p6"/>
          <p:cNvSpPr/>
          <p:nvPr/>
        </p:nvSpPr>
        <p:spPr>
          <a:xfrm>
            <a:off x="0" y="1280160"/>
            <a:ext cx="12188952" cy="73152"/>
          </a:xfrm>
          <a:prstGeom prst="rect">
            <a:avLst/>
          </a:prstGeom>
          <a:solidFill>
            <a:srgbClr val="009BD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1" name="Google Shape;251;p6"/>
          <p:cNvSpPr txBox="1"/>
          <p:nvPr/>
        </p:nvSpPr>
        <p:spPr>
          <a:xfrm>
            <a:off x="365760" y="164592"/>
            <a:ext cx="10972800" cy="7315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800" u="none" cap="none" strike="noStrike">
                <a:solidFill>
                  <a:srgbClr val="FFFFFF"/>
                </a:solidFill>
                <a:latin typeface="Calibri"/>
                <a:ea typeface="Calibri"/>
                <a:cs typeface="Calibri"/>
                <a:sym typeface="Calibri"/>
              </a:rPr>
              <a:t>Task 1 — Training Dynamics</a:t>
            </a:r>
            <a:endParaRPr/>
          </a:p>
        </p:txBody>
      </p:sp>
      <p:sp>
        <p:nvSpPr>
          <p:cNvPr id="252" name="Google Shape;252;p6"/>
          <p:cNvSpPr txBox="1"/>
          <p:nvPr/>
        </p:nvSpPr>
        <p:spPr>
          <a:xfrm>
            <a:off x="365760" y="841248"/>
            <a:ext cx="1097280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009BDE"/>
                </a:solidFill>
                <a:latin typeface="Calibri"/>
                <a:ea typeface="Calibri"/>
                <a:cs typeface="Calibri"/>
                <a:sym typeface="Calibri"/>
              </a:rPr>
              <a:t>SimpleCNN converges within ~5 epochs</a:t>
            </a:r>
            <a:endParaRPr/>
          </a:p>
        </p:txBody>
      </p:sp>
      <p:sp>
        <p:nvSpPr>
          <p:cNvPr id="253" name="Google Shape;253;p6"/>
          <p:cNvSpPr/>
          <p:nvPr/>
        </p:nvSpPr>
        <p:spPr>
          <a:xfrm>
            <a:off x="0" y="1353312"/>
            <a:ext cx="12188952" cy="5504688"/>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4" name="Google Shape;254;p6"/>
          <p:cNvSpPr/>
          <p:nvPr/>
        </p:nvSpPr>
        <p:spPr>
          <a:xfrm>
            <a:off x="0" y="6537960"/>
            <a:ext cx="12188952" cy="320040"/>
          </a:xfrm>
          <a:prstGeom prst="rect">
            <a:avLst/>
          </a:prstGeom>
          <a:solidFill>
            <a:srgbClr val="00357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5" name="Google Shape;255;p6"/>
          <p:cNvSpPr txBox="1"/>
          <p:nvPr/>
        </p:nvSpPr>
        <p:spPr>
          <a:xfrm>
            <a:off x="274320" y="6556248"/>
            <a:ext cx="11613000" cy="246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000" u="none" cap="none" strike="noStrike">
                <a:solidFill>
                  <a:srgbClr val="FFFFFF"/>
                </a:solidFill>
                <a:latin typeface="Calibri"/>
                <a:ea typeface="Calibri"/>
                <a:cs typeface="Calibri"/>
                <a:sym typeface="Calibri"/>
              </a:rPr>
              <a:t>D7047E Advanced Deep Learning  |  Group 14  |  LTU 2026 |S</a:t>
            </a:r>
            <a:endParaRPr/>
          </a:p>
        </p:txBody>
      </p:sp>
      <p:pic>
        <p:nvPicPr>
          <p:cNvPr descr="binary_training_curves.png" id="256" name="Google Shape;256;p6"/>
          <p:cNvPicPr preferRelativeResize="0"/>
          <p:nvPr/>
        </p:nvPicPr>
        <p:blipFill rotWithShape="1">
          <a:blip r:embed="rId3">
            <a:alphaModFix/>
          </a:blip>
          <a:srcRect b="0" l="0" r="0" t="0"/>
          <a:stretch/>
        </p:blipFill>
        <p:spPr>
          <a:xfrm>
            <a:off x="182880" y="1280160"/>
            <a:ext cx="11795760" cy="530352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7"/>
          <p:cNvSpPr/>
          <p:nvPr/>
        </p:nvSpPr>
        <p:spPr>
          <a:xfrm>
            <a:off x="0" y="0"/>
            <a:ext cx="12188952" cy="1280160"/>
          </a:xfrm>
          <a:prstGeom prst="rect">
            <a:avLst/>
          </a:prstGeom>
          <a:solidFill>
            <a:srgbClr val="00357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2" name="Google Shape;262;p7"/>
          <p:cNvSpPr/>
          <p:nvPr/>
        </p:nvSpPr>
        <p:spPr>
          <a:xfrm>
            <a:off x="0" y="1280160"/>
            <a:ext cx="12188952" cy="73152"/>
          </a:xfrm>
          <a:prstGeom prst="rect">
            <a:avLst/>
          </a:prstGeom>
          <a:solidFill>
            <a:srgbClr val="009BD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3" name="Google Shape;263;p7"/>
          <p:cNvSpPr txBox="1"/>
          <p:nvPr/>
        </p:nvSpPr>
        <p:spPr>
          <a:xfrm>
            <a:off x="365760" y="164592"/>
            <a:ext cx="10972800" cy="7315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800" u="none" cap="none" strike="noStrike">
                <a:solidFill>
                  <a:srgbClr val="FFFFFF"/>
                </a:solidFill>
                <a:latin typeface="Calibri"/>
                <a:ea typeface="Calibri"/>
                <a:cs typeface="Calibri"/>
                <a:sym typeface="Calibri"/>
              </a:rPr>
              <a:t>Task 2 — Multi-class Classification</a:t>
            </a:r>
            <a:endParaRPr/>
          </a:p>
        </p:txBody>
      </p:sp>
      <p:sp>
        <p:nvSpPr>
          <p:cNvPr id="264" name="Google Shape;264;p7"/>
          <p:cNvSpPr txBox="1"/>
          <p:nvPr/>
        </p:nvSpPr>
        <p:spPr>
          <a:xfrm>
            <a:off x="365760" y="841248"/>
            <a:ext cx="1097280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009BDE"/>
                </a:solidFill>
                <a:latin typeface="Calibri"/>
                <a:ea typeface="Calibri"/>
                <a:cs typeface="Calibri"/>
                <a:sym typeface="Calibri"/>
              </a:rPr>
              <a:t>8 classes: CLEAN + 7 cross-out styles</a:t>
            </a:r>
            <a:endParaRPr/>
          </a:p>
        </p:txBody>
      </p:sp>
      <p:sp>
        <p:nvSpPr>
          <p:cNvPr id="265" name="Google Shape;265;p7"/>
          <p:cNvSpPr/>
          <p:nvPr/>
        </p:nvSpPr>
        <p:spPr>
          <a:xfrm>
            <a:off x="0" y="1353312"/>
            <a:ext cx="12188952" cy="5504688"/>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6" name="Google Shape;266;p7"/>
          <p:cNvSpPr txBox="1"/>
          <p:nvPr/>
        </p:nvSpPr>
        <p:spPr>
          <a:xfrm>
            <a:off x="365760" y="1481328"/>
            <a:ext cx="5486400" cy="34747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500" u="none" cap="none" strike="noStrike">
                <a:solidFill>
                  <a:srgbClr val="003578"/>
                </a:solidFill>
                <a:latin typeface="Calibri"/>
                <a:ea typeface="Calibri"/>
                <a:cs typeface="Calibri"/>
                <a:sym typeface="Calibri"/>
              </a:rPr>
              <a:t>SimpleCNN  (candidate)</a:t>
            </a:r>
            <a:endParaRPr/>
          </a:p>
        </p:txBody>
      </p:sp>
      <p:sp>
        <p:nvSpPr>
          <p:cNvPr id="267" name="Google Shape;267;p7"/>
          <p:cNvSpPr/>
          <p:nvPr/>
        </p:nvSpPr>
        <p:spPr>
          <a:xfrm>
            <a:off x="365760" y="1901952"/>
            <a:ext cx="54864" cy="292608"/>
          </a:xfrm>
          <a:prstGeom prst="rect">
            <a:avLst/>
          </a:prstGeom>
          <a:solidFill>
            <a:srgbClr val="009BD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8" name="Google Shape;268;p7"/>
          <p:cNvSpPr txBox="1"/>
          <p:nvPr/>
        </p:nvSpPr>
        <p:spPr>
          <a:xfrm>
            <a:off x="548640" y="1901952"/>
            <a:ext cx="548640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333333"/>
                </a:solidFill>
                <a:latin typeface="Calibri"/>
                <a:ea typeface="Calibri"/>
                <a:cs typeface="Calibri"/>
                <a:sym typeface="Calibri"/>
              </a:rPr>
              <a:t>Block 1 (224→112): Conv(3→32)×2 + BN + MaxPool</a:t>
            </a:r>
            <a:endParaRPr/>
          </a:p>
        </p:txBody>
      </p:sp>
      <p:sp>
        <p:nvSpPr>
          <p:cNvPr id="269" name="Google Shape;269;p7"/>
          <p:cNvSpPr/>
          <p:nvPr/>
        </p:nvSpPr>
        <p:spPr>
          <a:xfrm>
            <a:off x="365760" y="2295144"/>
            <a:ext cx="54864" cy="292608"/>
          </a:xfrm>
          <a:prstGeom prst="rect">
            <a:avLst/>
          </a:prstGeom>
          <a:solidFill>
            <a:srgbClr val="009BD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0" name="Google Shape;270;p7"/>
          <p:cNvSpPr txBox="1"/>
          <p:nvPr/>
        </p:nvSpPr>
        <p:spPr>
          <a:xfrm>
            <a:off x="548640" y="2295144"/>
            <a:ext cx="548640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333333"/>
                </a:solidFill>
                <a:latin typeface="Calibri"/>
                <a:ea typeface="Calibri"/>
                <a:cs typeface="Calibri"/>
                <a:sym typeface="Calibri"/>
              </a:rPr>
              <a:t>Block 2 (112→56):  Conv(32→64)×2 + BN + MaxPool</a:t>
            </a:r>
            <a:endParaRPr/>
          </a:p>
        </p:txBody>
      </p:sp>
      <p:sp>
        <p:nvSpPr>
          <p:cNvPr id="271" name="Google Shape;271;p7"/>
          <p:cNvSpPr/>
          <p:nvPr/>
        </p:nvSpPr>
        <p:spPr>
          <a:xfrm>
            <a:off x="365760" y="2688336"/>
            <a:ext cx="54864" cy="292608"/>
          </a:xfrm>
          <a:prstGeom prst="rect">
            <a:avLst/>
          </a:prstGeom>
          <a:solidFill>
            <a:srgbClr val="009BD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2" name="Google Shape;272;p7"/>
          <p:cNvSpPr txBox="1"/>
          <p:nvPr/>
        </p:nvSpPr>
        <p:spPr>
          <a:xfrm>
            <a:off x="548640" y="2688336"/>
            <a:ext cx="548640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333333"/>
                </a:solidFill>
                <a:latin typeface="Calibri"/>
                <a:ea typeface="Calibri"/>
                <a:cs typeface="Calibri"/>
                <a:sym typeface="Calibri"/>
              </a:rPr>
              <a:t>Block 3 (56×56):   Conv(64→128) + Conv(128→128) + BN</a:t>
            </a:r>
            <a:endParaRPr/>
          </a:p>
        </p:txBody>
      </p:sp>
      <p:sp>
        <p:nvSpPr>
          <p:cNvPr id="273" name="Google Shape;273;p7"/>
          <p:cNvSpPr/>
          <p:nvPr/>
        </p:nvSpPr>
        <p:spPr>
          <a:xfrm>
            <a:off x="365760" y="3081528"/>
            <a:ext cx="54864" cy="292608"/>
          </a:xfrm>
          <a:prstGeom prst="rect">
            <a:avLst/>
          </a:prstGeom>
          <a:solidFill>
            <a:srgbClr val="009BD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4" name="Google Shape;274;p7"/>
          <p:cNvSpPr txBox="1"/>
          <p:nvPr/>
        </p:nvSpPr>
        <p:spPr>
          <a:xfrm>
            <a:off x="548640" y="3081528"/>
            <a:ext cx="5486400" cy="365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333333"/>
                </a:solidFill>
                <a:latin typeface="Calibri"/>
                <a:ea typeface="Calibri"/>
                <a:cs typeface="Calibri"/>
                <a:sym typeface="Calibri"/>
              </a:rPr>
              <a:t>Block 4 (56×56):   Conv(128→256) + BN + AdaptiveAvgPool(7×7)</a:t>
            </a:r>
            <a:endParaRPr/>
          </a:p>
        </p:txBody>
      </p:sp>
      <p:sp>
        <p:nvSpPr>
          <p:cNvPr id="275" name="Google Shape;275;p7"/>
          <p:cNvSpPr/>
          <p:nvPr/>
        </p:nvSpPr>
        <p:spPr>
          <a:xfrm>
            <a:off x="365760" y="3474720"/>
            <a:ext cx="54864" cy="292608"/>
          </a:xfrm>
          <a:prstGeom prst="rect">
            <a:avLst/>
          </a:prstGeom>
          <a:solidFill>
            <a:srgbClr val="009BD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6" name="Google Shape;276;p7"/>
          <p:cNvSpPr txBox="1"/>
          <p:nvPr/>
        </p:nvSpPr>
        <p:spPr>
          <a:xfrm>
            <a:off x="548640" y="3474720"/>
            <a:ext cx="5486400" cy="365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333333"/>
                </a:solidFill>
                <a:latin typeface="Calibri"/>
                <a:ea typeface="Calibri"/>
                <a:cs typeface="Calibri"/>
                <a:sym typeface="Calibri"/>
              </a:rPr>
              <a:t>Head: Linear(12544→512)→Drop(0.4)→Linear(128)→Drop(0.3)→Linear(8)</a:t>
            </a:r>
            <a:endParaRPr/>
          </a:p>
        </p:txBody>
      </p:sp>
      <p:sp>
        <p:nvSpPr>
          <p:cNvPr id="277" name="Google Shape;277;p7"/>
          <p:cNvSpPr/>
          <p:nvPr/>
        </p:nvSpPr>
        <p:spPr>
          <a:xfrm>
            <a:off x="365760" y="3913632"/>
            <a:ext cx="5486400" cy="36576"/>
          </a:xfrm>
          <a:prstGeom prst="rect">
            <a:avLst/>
          </a:prstGeom>
          <a:solidFill>
            <a:srgbClr val="009BD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8" name="Google Shape;278;p7"/>
          <p:cNvSpPr txBox="1"/>
          <p:nvPr/>
        </p:nvSpPr>
        <p:spPr>
          <a:xfrm>
            <a:off x="365760" y="4005072"/>
            <a:ext cx="5303400" cy="320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000000"/>
              </a:buClr>
              <a:buFont typeface="Arial"/>
              <a:buNone/>
            </a:pPr>
            <a:r>
              <a:t/>
            </a:r>
            <a:endParaRPr b="0" i="0" sz="1800" u="none" cap="none" strike="noStrike">
              <a:solidFill>
                <a:schemeClr val="dk1"/>
              </a:solidFill>
              <a:latin typeface="Calibri"/>
              <a:ea typeface="Calibri"/>
              <a:cs typeface="Calibri"/>
              <a:sym typeface="Calibri"/>
            </a:endParaRPr>
          </a:p>
        </p:txBody>
      </p:sp>
      <p:sp>
        <p:nvSpPr>
          <p:cNvPr id="279" name="Google Shape;279;p7"/>
          <p:cNvSpPr txBox="1"/>
          <p:nvPr/>
        </p:nvSpPr>
        <p:spPr>
          <a:xfrm>
            <a:off x="365760" y="4315968"/>
            <a:ext cx="5303520" cy="2560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0" name="Google Shape;280;p7"/>
          <p:cNvSpPr/>
          <p:nvPr/>
        </p:nvSpPr>
        <p:spPr>
          <a:xfrm>
            <a:off x="6035040" y="1417320"/>
            <a:ext cx="36576" cy="5120640"/>
          </a:xfrm>
          <a:prstGeom prst="rect">
            <a:avLst/>
          </a:prstGeom>
          <a:solidFill>
            <a:srgbClr val="009BD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1" name="Google Shape;281;p7"/>
          <p:cNvSpPr txBox="1"/>
          <p:nvPr/>
        </p:nvSpPr>
        <p:spPr>
          <a:xfrm>
            <a:off x="6309360" y="1481328"/>
            <a:ext cx="5486400" cy="34747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500" u="none" cap="none" strike="noStrike">
                <a:solidFill>
                  <a:srgbClr val="003578"/>
                </a:solidFill>
                <a:latin typeface="Calibri"/>
                <a:ea typeface="Calibri"/>
                <a:cs typeface="Calibri"/>
                <a:sym typeface="Calibri"/>
              </a:rPr>
              <a:t>ResNet-50  (candidate)</a:t>
            </a:r>
            <a:endParaRPr/>
          </a:p>
        </p:txBody>
      </p:sp>
      <p:sp>
        <p:nvSpPr>
          <p:cNvPr id="282" name="Google Shape;282;p7"/>
          <p:cNvSpPr txBox="1"/>
          <p:nvPr/>
        </p:nvSpPr>
        <p:spPr>
          <a:xfrm>
            <a:off x="6309360" y="1901952"/>
            <a:ext cx="548640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333333"/>
                </a:solidFill>
                <a:latin typeface="Calibri"/>
                <a:ea typeface="Calibri"/>
                <a:cs typeface="Calibri"/>
                <a:sym typeface="Calibri"/>
              </a:rPr>
              <a:t>ImageNet pretrained  |  layer4 + fc head unfrozen</a:t>
            </a:r>
            <a:endParaRPr/>
          </a:p>
        </p:txBody>
      </p:sp>
      <p:sp>
        <p:nvSpPr>
          <p:cNvPr id="283" name="Google Shape;283;p7"/>
          <p:cNvSpPr txBox="1"/>
          <p:nvPr/>
        </p:nvSpPr>
        <p:spPr>
          <a:xfrm>
            <a:off x="6309360" y="2267712"/>
            <a:ext cx="54864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333333"/>
                </a:solidFill>
                <a:latin typeface="Calibri"/>
                <a:ea typeface="Calibri"/>
                <a:cs typeface="Calibri"/>
                <a:sym typeface="Calibri"/>
              </a:rPr>
              <a:t>Head: Linear(2048→512)→ReLU→Dropout(0.3)→Linear(512→8)</a:t>
            </a:r>
            <a:br>
              <a:rPr b="0" i="0" lang="en-US" sz="1200" u="none" cap="none" strike="noStrike">
                <a:solidFill>
                  <a:srgbClr val="333333"/>
                </a:solidFill>
                <a:latin typeface="Calibri"/>
                <a:ea typeface="Calibri"/>
                <a:cs typeface="Calibri"/>
                <a:sym typeface="Calibri"/>
              </a:rPr>
            </a:br>
            <a:r>
              <a:rPr b="0" i="0" lang="en-US" sz="1200" u="none" cap="none" strike="noStrike">
                <a:solidFill>
                  <a:srgbClr val="333333"/>
                </a:solidFill>
                <a:latin typeface="Calibri"/>
                <a:ea typeface="Calibri"/>
                <a:cs typeface="Calibri"/>
                <a:sym typeface="Calibri"/>
              </a:rPr>
              <a:t>LR = 4×10⁻⁴  |  Batch = 256 </a:t>
            </a:r>
            <a:endParaRPr/>
          </a:p>
        </p:txBody>
      </p:sp>
      <p:sp>
        <p:nvSpPr>
          <p:cNvPr id="284" name="Google Shape;284;p7"/>
          <p:cNvSpPr/>
          <p:nvPr/>
        </p:nvSpPr>
        <p:spPr>
          <a:xfrm>
            <a:off x="6309360" y="2926080"/>
            <a:ext cx="5486400" cy="36576"/>
          </a:xfrm>
          <a:prstGeom prst="rect">
            <a:avLst/>
          </a:prstGeom>
          <a:solidFill>
            <a:srgbClr val="009BD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5" name="Google Shape;285;p7"/>
          <p:cNvSpPr txBox="1"/>
          <p:nvPr/>
        </p:nvSpPr>
        <p:spPr>
          <a:xfrm>
            <a:off x="6309360" y="3017520"/>
            <a:ext cx="5486400" cy="320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300" u="none" cap="none" strike="noStrike">
                <a:solidFill>
                  <a:srgbClr val="003578"/>
                </a:solidFill>
                <a:latin typeface="Calibri"/>
                <a:ea typeface="Calibri"/>
                <a:cs typeface="Calibri"/>
                <a:sym typeface="Calibri"/>
              </a:rPr>
              <a:t>IAM Test Results</a:t>
            </a:r>
            <a:endParaRPr/>
          </a:p>
        </p:txBody>
      </p:sp>
      <p:sp>
        <p:nvSpPr>
          <p:cNvPr id="286" name="Google Shape;286;p7"/>
          <p:cNvSpPr/>
          <p:nvPr/>
        </p:nvSpPr>
        <p:spPr>
          <a:xfrm>
            <a:off x="6309360" y="3383280"/>
            <a:ext cx="2468880" cy="685800"/>
          </a:xfrm>
          <a:prstGeom prst="rect">
            <a:avLst/>
          </a:prstGeom>
          <a:solidFill>
            <a:srgbClr val="E8F4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7" name="Google Shape;287;p7"/>
          <p:cNvSpPr txBox="1"/>
          <p:nvPr/>
        </p:nvSpPr>
        <p:spPr>
          <a:xfrm>
            <a:off x="6400800" y="3410712"/>
            <a:ext cx="2286000" cy="38404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003578"/>
                </a:solidFill>
                <a:latin typeface="Calibri"/>
                <a:ea typeface="Calibri"/>
                <a:cs typeface="Calibri"/>
                <a:sym typeface="Calibri"/>
              </a:rPr>
              <a:t>0.9025</a:t>
            </a:r>
            <a:endParaRPr/>
          </a:p>
        </p:txBody>
      </p:sp>
      <p:sp>
        <p:nvSpPr>
          <p:cNvPr id="288" name="Google Shape;288;p7"/>
          <p:cNvSpPr txBox="1"/>
          <p:nvPr/>
        </p:nvSpPr>
        <p:spPr>
          <a:xfrm>
            <a:off x="6400800" y="3785616"/>
            <a:ext cx="2286000" cy="2560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333333"/>
                </a:solidFill>
                <a:latin typeface="Calibri"/>
                <a:ea typeface="Calibri"/>
                <a:cs typeface="Calibri"/>
                <a:sym typeface="Calibri"/>
              </a:rPr>
              <a:t>Test Accuracy</a:t>
            </a:r>
            <a:endParaRPr/>
          </a:p>
        </p:txBody>
      </p:sp>
      <p:sp>
        <p:nvSpPr>
          <p:cNvPr id="289" name="Google Shape;289;p7"/>
          <p:cNvSpPr/>
          <p:nvPr/>
        </p:nvSpPr>
        <p:spPr>
          <a:xfrm>
            <a:off x="8961120" y="3383280"/>
            <a:ext cx="2468880" cy="685800"/>
          </a:xfrm>
          <a:prstGeom prst="rect">
            <a:avLst/>
          </a:prstGeom>
          <a:solidFill>
            <a:srgbClr val="E8F4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0" name="Google Shape;290;p7"/>
          <p:cNvSpPr txBox="1"/>
          <p:nvPr/>
        </p:nvSpPr>
        <p:spPr>
          <a:xfrm>
            <a:off x="9052560" y="3410712"/>
            <a:ext cx="2286000" cy="38404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003578"/>
                </a:solidFill>
                <a:latin typeface="Calibri"/>
                <a:ea typeface="Calibri"/>
                <a:cs typeface="Calibri"/>
                <a:sym typeface="Calibri"/>
              </a:rPr>
              <a:t>0.9098</a:t>
            </a:r>
            <a:endParaRPr/>
          </a:p>
        </p:txBody>
      </p:sp>
      <p:sp>
        <p:nvSpPr>
          <p:cNvPr id="291" name="Google Shape;291;p7"/>
          <p:cNvSpPr txBox="1"/>
          <p:nvPr/>
        </p:nvSpPr>
        <p:spPr>
          <a:xfrm>
            <a:off x="9052560" y="3785616"/>
            <a:ext cx="2286000" cy="2560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333333"/>
                </a:solidFill>
                <a:latin typeface="Calibri"/>
                <a:ea typeface="Calibri"/>
                <a:cs typeface="Calibri"/>
                <a:sym typeface="Calibri"/>
              </a:rPr>
              <a:t>Macro-F1</a:t>
            </a:r>
            <a:endParaRPr/>
          </a:p>
        </p:txBody>
      </p:sp>
      <p:sp>
        <p:nvSpPr>
          <p:cNvPr id="292" name="Google Shape;292;p7"/>
          <p:cNvSpPr/>
          <p:nvPr/>
        </p:nvSpPr>
        <p:spPr>
          <a:xfrm>
            <a:off x="6309360" y="4133088"/>
            <a:ext cx="2468880" cy="685800"/>
          </a:xfrm>
          <a:prstGeom prst="rect">
            <a:avLst/>
          </a:prstGeom>
          <a:solidFill>
            <a:srgbClr val="E8F4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3" name="Google Shape;293;p7"/>
          <p:cNvSpPr txBox="1"/>
          <p:nvPr/>
        </p:nvSpPr>
        <p:spPr>
          <a:xfrm>
            <a:off x="6400800" y="4160520"/>
            <a:ext cx="2286000" cy="8310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rPr b="1" lang="en-US" sz="2000">
                <a:solidFill>
                  <a:srgbClr val="003578"/>
                </a:solidFill>
                <a:latin typeface="Calibri"/>
                <a:ea typeface="Calibri"/>
                <a:cs typeface="Calibri"/>
                <a:sym typeface="Calibri"/>
              </a:rPr>
              <a:t>0.8947</a:t>
            </a:r>
            <a:endParaRPr>
              <a:solidFill>
                <a:schemeClr val="dk1"/>
              </a:solidFill>
            </a:endParaRPr>
          </a:p>
          <a:p>
            <a:pPr indent="0" lvl="0" marL="0" rtl="0" algn="l">
              <a:spcBef>
                <a:spcPts val="0"/>
              </a:spcBef>
              <a:spcAft>
                <a:spcPts val="0"/>
              </a:spcAft>
              <a:buClr>
                <a:srgbClr val="000000"/>
              </a:buClr>
              <a:buFont typeface="Arial"/>
              <a:buNone/>
            </a:pPr>
            <a:r>
              <a:rPr lang="en-US" sz="1000">
                <a:solidFill>
                  <a:srgbClr val="333333"/>
                </a:solidFill>
                <a:latin typeface="Calibri"/>
                <a:ea typeface="Calibri"/>
                <a:cs typeface="Calibri"/>
                <a:sym typeface="Calibri"/>
              </a:rPr>
              <a:t>Val Acc</a:t>
            </a:r>
            <a:endParaRPr/>
          </a:p>
          <a:p>
            <a:pPr indent="0" lvl="0" marL="0" rtl="0" algn="l">
              <a:spcBef>
                <a:spcPts val="0"/>
              </a:spcBef>
              <a:spcAft>
                <a:spcPts val="0"/>
              </a:spcAft>
              <a:buClr>
                <a:schemeClr val="dk1"/>
              </a:buClr>
              <a:buFont typeface="Arial"/>
              <a:buNone/>
            </a:pPr>
            <a:r>
              <a:t/>
            </a:r>
            <a:endParaRPr b="1" sz="1800">
              <a:solidFill>
                <a:schemeClr val="dk1"/>
              </a:solidFill>
              <a:latin typeface="Calibri"/>
              <a:ea typeface="Calibri"/>
              <a:cs typeface="Calibri"/>
              <a:sym typeface="Calibri"/>
            </a:endParaRPr>
          </a:p>
        </p:txBody>
      </p:sp>
      <p:sp>
        <p:nvSpPr>
          <p:cNvPr id="294" name="Google Shape;294;p7"/>
          <p:cNvSpPr/>
          <p:nvPr/>
        </p:nvSpPr>
        <p:spPr>
          <a:xfrm>
            <a:off x="365760" y="4956048"/>
            <a:ext cx="11430000" cy="749808"/>
          </a:xfrm>
          <a:prstGeom prst="rect">
            <a:avLst/>
          </a:prstGeom>
          <a:solidFill>
            <a:srgbClr val="FFF8E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5" name="Google Shape;295;p7"/>
          <p:cNvSpPr/>
          <p:nvPr/>
        </p:nvSpPr>
        <p:spPr>
          <a:xfrm>
            <a:off x="365760" y="4956048"/>
            <a:ext cx="54864" cy="749808"/>
          </a:xfrm>
          <a:prstGeom prst="rect">
            <a:avLst/>
          </a:prstGeom>
          <a:solidFill>
            <a:srgbClr val="FFA50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6" name="Google Shape;296;p7"/>
          <p:cNvSpPr txBox="1"/>
          <p:nvPr/>
        </p:nvSpPr>
        <p:spPr>
          <a:xfrm>
            <a:off x="530352" y="5010912"/>
            <a:ext cx="11109900" cy="276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333333"/>
                </a:solidFill>
                <a:latin typeface="Calibri"/>
                <a:ea typeface="Calibri"/>
                <a:cs typeface="Calibri"/>
                <a:sym typeface="Calibri"/>
              </a:rPr>
              <a:t>✓  Final model: SimpleCNN  (F1=0.9130 vs ResNet-50 F1=0.9098)</a:t>
            </a:r>
            <a:endParaRPr/>
          </a:p>
        </p:txBody>
      </p:sp>
      <p:sp>
        <p:nvSpPr>
          <p:cNvPr id="297" name="Google Shape;297;p7"/>
          <p:cNvSpPr/>
          <p:nvPr/>
        </p:nvSpPr>
        <p:spPr>
          <a:xfrm>
            <a:off x="0" y="6537960"/>
            <a:ext cx="12188952" cy="320040"/>
          </a:xfrm>
          <a:prstGeom prst="rect">
            <a:avLst/>
          </a:prstGeom>
          <a:solidFill>
            <a:srgbClr val="00357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8" name="Google Shape;298;p7"/>
          <p:cNvSpPr txBox="1"/>
          <p:nvPr/>
        </p:nvSpPr>
        <p:spPr>
          <a:xfrm>
            <a:off x="274320" y="6556248"/>
            <a:ext cx="11613000" cy="246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000" u="none" cap="none" strike="noStrike">
                <a:solidFill>
                  <a:srgbClr val="FFFFFF"/>
                </a:solidFill>
                <a:latin typeface="Calibri"/>
                <a:ea typeface="Calibri"/>
                <a:cs typeface="Calibri"/>
                <a:sym typeface="Calibri"/>
              </a:rPr>
              <a:t>D7047E Advanced Deep Learning  |  Group 14  |  LTU 2026 | M</a:t>
            </a:r>
            <a:endParaRPr/>
          </a:p>
        </p:txBody>
      </p:sp>
      <p:sp>
        <p:nvSpPr>
          <p:cNvPr id="299" name="Google Shape;299;p7"/>
          <p:cNvSpPr/>
          <p:nvPr/>
        </p:nvSpPr>
        <p:spPr>
          <a:xfrm>
            <a:off x="274310" y="4110230"/>
            <a:ext cx="1707000" cy="685800"/>
          </a:xfrm>
          <a:prstGeom prst="rect">
            <a:avLst/>
          </a:prstGeom>
          <a:solidFill>
            <a:srgbClr val="E8F4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0" name="Google Shape;300;p7"/>
          <p:cNvSpPr txBox="1"/>
          <p:nvPr/>
        </p:nvSpPr>
        <p:spPr>
          <a:xfrm>
            <a:off x="457200" y="4137662"/>
            <a:ext cx="15240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003578"/>
                </a:solidFill>
                <a:latin typeface="Calibri"/>
                <a:ea typeface="Calibri"/>
                <a:cs typeface="Calibri"/>
                <a:sym typeface="Calibri"/>
              </a:rPr>
              <a:t>0.8957</a:t>
            </a:r>
            <a:endParaRPr/>
          </a:p>
        </p:txBody>
      </p:sp>
      <p:sp>
        <p:nvSpPr>
          <p:cNvPr id="301" name="Google Shape;301;p7"/>
          <p:cNvSpPr txBox="1"/>
          <p:nvPr/>
        </p:nvSpPr>
        <p:spPr>
          <a:xfrm>
            <a:off x="457200" y="4512566"/>
            <a:ext cx="1524000" cy="246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333333"/>
                </a:solidFill>
                <a:latin typeface="Calibri"/>
                <a:ea typeface="Calibri"/>
                <a:cs typeface="Calibri"/>
                <a:sym typeface="Calibri"/>
              </a:rPr>
              <a:t>Val Acc</a:t>
            </a:r>
            <a:endParaRPr/>
          </a:p>
        </p:txBody>
      </p:sp>
      <p:sp>
        <p:nvSpPr>
          <p:cNvPr id="302" name="Google Shape;302;p7"/>
          <p:cNvSpPr/>
          <p:nvPr/>
        </p:nvSpPr>
        <p:spPr>
          <a:xfrm>
            <a:off x="2072655" y="4137655"/>
            <a:ext cx="1707000" cy="685800"/>
          </a:xfrm>
          <a:prstGeom prst="rect">
            <a:avLst/>
          </a:prstGeom>
          <a:solidFill>
            <a:srgbClr val="E8F4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3" name="Google Shape;303;p7"/>
          <p:cNvSpPr txBox="1"/>
          <p:nvPr/>
        </p:nvSpPr>
        <p:spPr>
          <a:xfrm>
            <a:off x="2255520" y="4137662"/>
            <a:ext cx="15240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003578"/>
                </a:solidFill>
                <a:latin typeface="Calibri"/>
                <a:ea typeface="Calibri"/>
                <a:cs typeface="Calibri"/>
                <a:sym typeface="Calibri"/>
              </a:rPr>
              <a:t>0.9042</a:t>
            </a:r>
            <a:endParaRPr/>
          </a:p>
        </p:txBody>
      </p:sp>
      <p:sp>
        <p:nvSpPr>
          <p:cNvPr id="304" name="Google Shape;304;p7"/>
          <p:cNvSpPr txBox="1"/>
          <p:nvPr/>
        </p:nvSpPr>
        <p:spPr>
          <a:xfrm>
            <a:off x="2255520" y="4512566"/>
            <a:ext cx="1524000" cy="246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333333"/>
                </a:solidFill>
                <a:latin typeface="Calibri"/>
                <a:ea typeface="Calibri"/>
                <a:cs typeface="Calibri"/>
                <a:sym typeface="Calibri"/>
              </a:rPr>
              <a:t>Test Acc</a:t>
            </a:r>
            <a:endParaRPr/>
          </a:p>
        </p:txBody>
      </p:sp>
      <p:sp>
        <p:nvSpPr>
          <p:cNvPr id="305" name="Google Shape;305;p7"/>
          <p:cNvSpPr/>
          <p:nvPr/>
        </p:nvSpPr>
        <p:spPr>
          <a:xfrm>
            <a:off x="3962413" y="4110230"/>
            <a:ext cx="1707000" cy="685800"/>
          </a:xfrm>
          <a:prstGeom prst="rect">
            <a:avLst/>
          </a:prstGeom>
          <a:solidFill>
            <a:srgbClr val="E8F4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6" name="Google Shape;306;p7"/>
          <p:cNvSpPr txBox="1"/>
          <p:nvPr/>
        </p:nvSpPr>
        <p:spPr>
          <a:xfrm>
            <a:off x="4053840" y="4137662"/>
            <a:ext cx="15240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003578"/>
                </a:solidFill>
                <a:latin typeface="Calibri"/>
                <a:ea typeface="Calibri"/>
                <a:cs typeface="Calibri"/>
                <a:sym typeface="Calibri"/>
              </a:rPr>
              <a:t>0.9130</a:t>
            </a:r>
            <a:endParaRPr/>
          </a:p>
        </p:txBody>
      </p:sp>
      <p:sp>
        <p:nvSpPr>
          <p:cNvPr id="307" name="Google Shape;307;p7"/>
          <p:cNvSpPr txBox="1"/>
          <p:nvPr/>
        </p:nvSpPr>
        <p:spPr>
          <a:xfrm>
            <a:off x="4053840" y="4512566"/>
            <a:ext cx="1524000" cy="246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333333"/>
                </a:solidFill>
                <a:latin typeface="Calibri"/>
                <a:ea typeface="Calibri"/>
                <a:cs typeface="Calibri"/>
                <a:sym typeface="Calibri"/>
              </a:rPr>
              <a:t>Macro-F1</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8"/>
          <p:cNvSpPr/>
          <p:nvPr/>
        </p:nvSpPr>
        <p:spPr>
          <a:xfrm>
            <a:off x="0" y="0"/>
            <a:ext cx="12188952" cy="1280160"/>
          </a:xfrm>
          <a:prstGeom prst="rect">
            <a:avLst/>
          </a:prstGeom>
          <a:solidFill>
            <a:srgbClr val="00357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3" name="Google Shape;313;p8"/>
          <p:cNvSpPr/>
          <p:nvPr/>
        </p:nvSpPr>
        <p:spPr>
          <a:xfrm>
            <a:off x="0" y="1280160"/>
            <a:ext cx="12188952" cy="73152"/>
          </a:xfrm>
          <a:prstGeom prst="rect">
            <a:avLst/>
          </a:prstGeom>
          <a:solidFill>
            <a:srgbClr val="009BD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4" name="Google Shape;314;p8"/>
          <p:cNvSpPr txBox="1"/>
          <p:nvPr/>
        </p:nvSpPr>
        <p:spPr>
          <a:xfrm>
            <a:off x="365760" y="164592"/>
            <a:ext cx="10972800" cy="7315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800" u="none" cap="none" strike="noStrike">
                <a:solidFill>
                  <a:srgbClr val="FFFFFF"/>
                </a:solidFill>
                <a:latin typeface="Calibri"/>
                <a:ea typeface="Calibri"/>
                <a:cs typeface="Calibri"/>
                <a:sym typeface="Calibri"/>
              </a:rPr>
              <a:t>Task 2 — Confusion Matrices — ResNet-50 vs SimpleCNN (IAM Test)</a:t>
            </a:r>
            <a:endParaRPr/>
          </a:p>
        </p:txBody>
      </p:sp>
      <p:sp>
        <p:nvSpPr>
          <p:cNvPr id="315" name="Google Shape;315;p8"/>
          <p:cNvSpPr txBox="1"/>
          <p:nvPr/>
        </p:nvSpPr>
        <p:spPr>
          <a:xfrm>
            <a:off x="365760" y="841248"/>
            <a:ext cx="1097280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009BDE"/>
                </a:solidFill>
                <a:latin typeface="Calibri"/>
                <a:ea typeface="Calibri"/>
                <a:cs typeface="Calibri"/>
                <a:sym typeface="Calibri"/>
              </a:rPr>
              <a:t>ZIG_ZAG over-prediction is the dominant error</a:t>
            </a:r>
            <a:endParaRPr/>
          </a:p>
        </p:txBody>
      </p:sp>
      <p:sp>
        <p:nvSpPr>
          <p:cNvPr id="316" name="Google Shape;316;p8"/>
          <p:cNvSpPr/>
          <p:nvPr/>
        </p:nvSpPr>
        <p:spPr>
          <a:xfrm>
            <a:off x="0" y="1353312"/>
            <a:ext cx="12188952" cy="5504688"/>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7" name="Google Shape;317;p8"/>
          <p:cNvSpPr txBox="1"/>
          <p:nvPr/>
        </p:nvSpPr>
        <p:spPr>
          <a:xfrm>
            <a:off x="7406640" y="1508760"/>
            <a:ext cx="457200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500" u="none" cap="none" strike="noStrike">
                <a:solidFill>
                  <a:srgbClr val="003578"/>
                </a:solidFill>
                <a:latin typeface="Calibri"/>
                <a:ea typeface="Calibri"/>
                <a:cs typeface="Calibri"/>
                <a:sym typeface="Calibri"/>
              </a:rPr>
              <a:t>Key Observations</a:t>
            </a:r>
            <a:endParaRPr/>
          </a:p>
        </p:txBody>
      </p:sp>
      <p:sp>
        <p:nvSpPr>
          <p:cNvPr id="318" name="Google Shape;318;p8"/>
          <p:cNvSpPr/>
          <p:nvPr/>
        </p:nvSpPr>
        <p:spPr>
          <a:xfrm>
            <a:off x="7406640" y="1965960"/>
            <a:ext cx="320040" cy="548640"/>
          </a:xfrm>
          <a:prstGeom prst="rect">
            <a:avLst/>
          </a:prstGeom>
          <a:solidFill>
            <a:srgbClr val="00357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9" name="Google Shape;319;p8"/>
          <p:cNvSpPr txBox="1"/>
          <p:nvPr/>
        </p:nvSpPr>
        <p:spPr>
          <a:xfrm>
            <a:off x="7406640" y="1965960"/>
            <a:ext cx="320040" cy="54864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400" u="none" cap="none" strike="noStrike">
                <a:solidFill>
                  <a:srgbClr val="FFFFFF"/>
                </a:solidFill>
                <a:latin typeface="Calibri"/>
                <a:ea typeface="Calibri"/>
                <a:cs typeface="Calibri"/>
                <a:sym typeface="Calibri"/>
              </a:rPr>
              <a:t>⚠</a:t>
            </a:r>
            <a:endParaRPr/>
          </a:p>
        </p:txBody>
      </p:sp>
      <p:sp>
        <p:nvSpPr>
          <p:cNvPr id="320" name="Google Shape;320;p8"/>
          <p:cNvSpPr txBox="1"/>
          <p:nvPr/>
        </p:nvSpPr>
        <p:spPr>
          <a:xfrm>
            <a:off x="7818120" y="1965960"/>
            <a:ext cx="420624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333333"/>
                </a:solidFill>
                <a:latin typeface="Calibri"/>
                <a:ea typeface="Calibri"/>
                <a:cs typeface="Calibri"/>
                <a:sym typeface="Calibri"/>
              </a:rPr>
              <a:t>~9–10% of every class</a:t>
            </a:r>
            <a:br>
              <a:rPr b="0" i="0" lang="en-US" sz="1200" u="none" cap="none" strike="noStrike">
                <a:solidFill>
                  <a:srgbClr val="333333"/>
                </a:solidFill>
                <a:latin typeface="Calibri"/>
                <a:ea typeface="Calibri"/>
                <a:cs typeface="Calibri"/>
                <a:sym typeface="Calibri"/>
              </a:rPr>
            </a:br>
            <a:r>
              <a:rPr b="0" i="0" lang="en-US" sz="1200" u="none" cap="none" strike="noStrike">
                <a:solidFill>
                  <a:srgbClr val="333333"/>
                </a:solidFill>
                <a:latin typeface="Calibri"/>
                <a:ea typeface="Calibri"/>
                <a:cs typeface="Calibri"/>
                <a:sym typeface="Calibri"/>
              </a:rPr>
              <a:t>misclassified as ZIG_ZAG</a:t>
            </a:r>
            <a:endParaRPr/>
          </a:p>
        </p:txBody>
      </p:sp>
      <p:sp>
        <p:nvSpPr>
          <p:cNvPr id="321" name="Google Shape;321;p8"/>
          <p:cNvSpPr/>
          <p:nvPr/>
        </p:nvSpPr>
        <p:spPr>
          <a:xfrm>
            <a:off x="7406640" y="3017520"/>
            <a:ext cx="320040" cy="548640"/>
          </a:xfrm>
          <a:prstGeom prst="rect">
            <a:avLst/>
          </a:prstGeom>
          <a:solidFill>
            <a:srgbClr val="009BD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2" name="Google Shape;322;p8"/>
          <p:cNvSpPr txBox="1"/>
          <p:nvPr/>
        </p:nvSpPr>
        <p:spPr>
          <a:xfrm>
            <a:off x="7406640" y="3017520"/>
            <a:ext cx="320040" cy="54864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400" u="none" cap="none" strike="noStrike">
                <a:solidFill>
                  <a:srgbClr val="FFFFFF"/>
                </a:solidFill>
                <a:latin typeface="Calibri"/>
                <a:ea typeface="Calibri"/>
                <a:cs typeface="Calibri"/>
                <a:sym typeface="Calibri"/>
              </a:rPr>
              <a:t>〜</a:t>
            </a:r>
            <a:endParaRPr/>
          </a:p>
        </p:txBody>
      </p:sp>
      <p:sp>
        <p:nvSpPr>
          <p:cNvPr id="323" name="Google Shape;323;p8"/>
          <p:cNvSpPr txBox="1"/>
          <p:nvPr/>
        </p:nvSpPr>
        <p:spPr>
          <a:xfrm>
            <a:off x="7818120" y="3017520"/>
            <a:ext cx="420624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333333"/>
                </a:solidFill>
                <a:latin typeface="Calibri"/>
                <a:ea typeface="Calibri"/>
                <a:cs typeface="Calibri"/>
                <a:sym typeface="Calibri"/>
              </a:rPr>
              <a:t>WAVE most confused</a:t>
            </a:r>
            <a:br>
              <a:rPr b="0" i="0" lang="en-US" sz="1200" u="none" cap="none" strike="noStrike">
                <a:solidFill>
                  <a:srgbClr val="333333"/>
                </a:solidFill>
                <a:latin typeface="Calibri"/>
                <a:ea typeface="Calibri"/>
                <a:cs typeface="Calibri"/>
                <a:sym typeface="Calibri"/>
              </a:rPr>
            </a:br>
            <a:r>
              <a:rPr b="0" i="0" lang="en-US" sz="1200" u="none" cap="none" strike="noStrike">
                <a:solidFill>
                  <a:srgbClr val="333333"/>
                </a:solidFill>
                <a:latin typeface="Calibri"/>
                <a:ea typeface="Calibri"/>
                <a:cs typeface="Calibri"/>
                <a:sym typeface="Calibri"/>
              </a:rPr>
              <a:t>(12.9% → ZIG_ZAG)</a:t>
            </a:r>
            <a:endParaRPr/>
          </a:p>
        </p:txBody>
      </p:sp>
      <p:sp>
        <p:nvSpPr>
          <p:cNvPr id="324" name="Google Shape;324;p8"/>
          <p:cNvSpPr/>
          <p:nvPr/>
        </p:nvSpPr>
        <p:spPr>
          <a:xfrm>
            <a:off x="7406640" y="4069079"/>
            <a:ext cx="320040" cy="548640"/>
          </a:xfrm>
          <a:prstGeom prst="rect">
            <a:avLst/>
          </a:prstGeom>
          <a:solidFill>
            <a:srgbClr val="009BD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5" name="Google Shape;325;p8"/>
          <p:cNvSpPr txBox="1"/>
          <p:nvPr/>
        </p:nvSpPr>
        <p:spPr>
          <a:xfrm>
            <a:off x="7406640" y="4069079"/>
            <a:ext cx="320040" cy="54864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400" u="none" cap="none" strike="noStrike">
                <a:solidFill>
                  <a:srgbClr val="FFFFFF"/>
                </a:solidFill>
                <a:latin typeface="Calibri"/>
                <a:ea typeface="Calibri"/>
                <a:cs typeface="Calibri"/>
                <a:sym typeface="Calibri"/>
              </a:rPr>
              <a:t>✓</a:t>
            </a:r>
            <a:endParaRPr/>
          </a:p>
        </p:txBody>
      </p:sp>
      <p:sp>
        <p:nvSpPr>
          <p:cNvPr id="326" name="Google Shape;326;p8"/>
          <p:cNvSpPr txBox="1"/>
          <p:nvPr/>
        </p:nvSpPr>
        <p:spPr>
          <a:xfrm>
            <a:off x="7818120" y="4069079"/>
            <a:ext cx="420624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333333"/>
                </a:solidFill>
                <a:latin typeface="Calibri"/>
                <a:ea typeface="Calibri"/>
                <a:cs typeface="Calibri"/>
                <a:sym typeface="Calibri"/>
              </a:rPr>
              <a:t>ZIG_ZAG itself: 97.1%</a:t>
            </a:r>
            <a:br>
              <a:rPr b="0" i="0" lang="en-US" sz="1200" u="none" cap="none" strike="noStrike">
                <a:solidFill>
                  <a:srgbClr val="333333"/>
                </a:solidFill>
                <a:latin typeface="Calibri"/>
                <a:ea typeface="Calibri"/>
                <a:cs typeface="Calibri"/>
                <a:sym typeface="Calibri"/>
              </a:rPr>
            </a:br>
            <a:r>
              <a:rPr b="0" i="0" lang="en-US" sz="1200" u="none" cap="none" strike="noStrike">
                <a:solidFill>
                  <a:srgbClr val="333333"/>
                </a:solidFill>
                <a:latin typeface="Calibri"/>
                <a:ea typeface="Calibri"/>
                <a:cs typeface="Calibri"/>
                <a:sym typeface="Calibri"/>
              </a:rPr>
              <a:t>per-class accuracy</a:t>
            </a:r>
            <a:endParaRPr/>
          </a:p>
        </p:txBody>
      </p:sp>
      <p:sp>
        <p:nvSpPr>
          <p:cNvPr id="327" name="Google Shape;327;p8"/>
          <p:cNvSpPr/>
          <p:nvPr/>
        </p:nvSpPr>
        <p:spPr>
          <a:xfrm>
            <a:off x="7406640" y="5120640"/>
            <a:ext cx="320040" cy="548640"/>
          </a:xfrm>
          <a:prstGeom prst="rect">
            <a:avLst/>
          </a:prstGeom>
          <a:solidFill>
            <a:srgbClr val="009BD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8" name="Google Shape;328;p8"/>
          <p:cNvSpPr txBox="1"/>
          <p:nvPr/>
        </p:nvSpPr>
        <p:spPr>
          <a:xfrm>
            <a:off x="7406640" y="5120640"/>
            <a:ext cx="320040" cy="54864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400" u="none" cap="none" strike="noStrike">
                <a:solidFill>
                  <a:srgbClr val="FFFFFF"/>
                </a:solidFill>
                <a:latin typeface="Calibri"/>
                <a:ea typeface="Calibri"/>
                <a:cs typeface="Calibri"/>
                <a:sym typeface="Calibri"/>
              </a:rPr>
              <a:t>✓</a:t>
            </a:r>
            <a:endParaRPr/>
          </a:p>
        </p:txBody>
      </p:sp>
      <p:sp>
        <p:nvSpPr>
          <p:cNvPr id="329" name="Google Shape;329;p8"/>
          <p:cNvSpPr txBox="1"/>
          <p:nvPr/>
        </p:nvSpPr>
        <p:spPr>
          <a:xfrm>
            <a:off x="7818120" y="5120640"/>
            <a:ext cx="420624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333333"/>
                </a:solidFill>
                <a:latin typeface="Calibri"/>
                <a:ea typeface="Calibri"/>
                <a:cs typeface="Calibri"/>
                <a:sym typeface="Calibri"/>
              </a:rPr>
              <a:t>SCRATCH: 89.8%</a:t>
            </a:r>
            <a:br>
              <a:rPr b="0" i="0" lang="en-US" sz="1200" u="none" cap="none" strike="noStrike">
                <a:solidFill>
                  <a:srgbClr val="333333"/>
                </a:solidFill>
                <a:latin typeface="Calibri"/>
                <a:ea typeface="Calibri"/>
                <a:cs typeface="Calibri"/>
                <a:sym typeface="Calibri"/>
              </a:rPr>
            </a:br>
            <a:r>
              <a:rPr b="0" i="0" lang="en-US" sz="1200" u="none" cap="none" strike="noStrike">
                <a:solidFill>
                  <a:srgbClr val="333333"/>
                </a:solidFill>
                <a:latin typeface="Calibri"/>
                <a:ea typeface="Calibri"/>
                <a:cs typeface="Calibri"/>
                <a:sym typeface="Calibri"/>
              </a:rPr>
              <a:t>per-class accuracy</a:t>
            </a:r>
            <a:endParaRPr/>
          </a:p>
        </p:txBody>
      </p:sp>
      <p:sp>
        <p:nvSpPr>
          <p:cNvPr id="330" name="Google Shape;330;p8"/>
          <p:cNvSpPr/>
          <p:nvPr/>
        </p:nvSpPr>
        <p:spPr>
          <a:xfrm>
            <a:off x="0" y="6537960"/>
            <a:ext cx="12188952" cy="320040"/>
          </a:xfrm>
          <a:prstGeom prst="rect">
            <a:avLst/>
          </a:prstGeom>
          <a:solidFill>
            <a:srgbClr val="00357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1" name="Google Shape;331;p8"/>
          <p:cNvSpPr txBox="1"/>
          <p:nvPr/>
        </p:nvSpPr>
        <p:spPr>
          <a:xfrm>
            <a:off x="274320" y="6556248"/>
            <a:ext cx="11613000" cy="246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000" u="none" cap="none" strike="noStrike">
                <a:solidFill>
                  <a:srgbClr val="FFFFFF"/>
                </a:solidFill>
                <a:latin typeface="Calibri"/>
                <a:ea typeface="Calibri"/>
                <a:cs typeface="Calibri"/>
                <a:sym typeface="Calibri"/>
              </a:rPr>
              <a:t>D7047E Advanced Deep Learning  |  Group 14  |  LTU 2026 | M</a:t>
            </a:r>
            <a:endParaRPr/>
          </a:p>
        </p:txBody>
      </p:sp>
      <p:pic>
        <p:nvPicPr>
          <p:cNvPr descr="image.png" id="332" name="Google Shape;332;p8"/>
          <p:cNvPicPr preferRelativeResize="0"/>
          <p:nvPr/>
        </p:nvPicPr>
        <p:blipFill rotWithShape="1">
          <a:blip r:embed="rId3">
            <a:alphaModFix/>
          </a:blip>
          <a:srcRect b="0" l="0" r="0" t="0"/>
          <a:stretch/>
        </p:blipFill>
        <p:spPr>
          <a:xfrm>
            <a:off x="137160" y="1280160"/>
            <a:ext cx="5852160" cy="5303520"/>
          </a:xfrm>
          <a:prstGeom prst="rect">
            <a:avLst/>
          </a:prstGeom>
          <a:noFill/>
          <a:ln>
            <a:noFill/>
          </a:ln>
        </p:spPr>
      </p:pic>
      <p:pic>
        <p:nvPicPr>
          <p:cNvPr descr="image.png" id="333" name="Google Shape;333;p8"/>
          <p:cNvPicPr preferRelativeResize="0"/>
          <p:nvPr/>
        </p:nvPicPr>
        <p:blipFill rotWithShape="1">
          <a:blip r:embed="rId4">
            <a:alphaModFix/>
          </a:blip>
          <a:srcRect b="0" l="0" r="0" t="0"/>
          <a:stretch/>
        </p:blipFill>
        <p:spPr>
          <a:xfrm>
            <a:off x="6126480" y="1280160"/>
            <a:ext cx="5852160" cy="2560320"/>
          </a:xfrm>
          <a:prstGeom prst="rect">
            <a:avLst/>
          </a:prstGeom>
          <a:noFill/>
          <a:ln>
            <a:noFill/>
          </a:ln>
        </p:spPr>
      </p:pic>
      <p:pic>
        <p:nvPicPr>
          <p:cNvPr descr="image.png" id="334" name="Google Shape;334;p8"/>
          <p:cNvPicPr preferRelativeResize="0"/>
          <p:nvPr/>
        </p:nvPicPr>
        <p:blipFill rotWithShape="1">
          <a:blip r:embed="rId5">
            <a:alphaModFix/>
          </a:blip>
          <a:srcRect b="0" l="0" r="0" t="0"/>
          <a:stretch/>
        </p:blipFill>
        <p:spPr>
          <a:xfrm>
            <a:off x="6126480" y="3931920"/>
            <a:ext cx="5852160" cy="256032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9"/>
          <p:cNvSpPr/>
          <p:nvPr/>
        </p:nvSpPr>
        <p:spPr>
          <a:xfrm>
            <a:off x="0" y="0"/>
            <a:ext cx="12188952" cy="1280160"/>
          </a:xfrm>
          <a:prstGeom prst="rect">
            <a:avLst/>
          </a:prstGeom>
          <a:solidFill>
            <a:srgbClr val="00357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0" name="Google Shape;340;p9"/>
          <p:cNvSpPr/>
          <p:nvPr/>
        </p:nvSpPr>
        <p:spPr>
          <a:xfrm>
            <a:off x="0" y="1280160"/>
            <a:ext cx="12188952" cy="73152"/>
          </a:xfrm>
          <a:prstGeom prst="rect">
            <a:avLst/>
          </a:prstGeom>
          <a:solidFill>
            <a:srgbClr val="009BD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1" name="Google Shape;341;p9"/>
          <p:cNvSpPr txBox="1"/>
          <p:nvPr/>
        </p:nvSpPr>
        <p:spPr>
          <a:xfrm>
            <a:off x="365760" y="164592"/>
            <a:ext cx="10972800" cy="7315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800" u="none" cap="none" strike="noStrike">
                <a:solidFill>
                  <a:srgbClr val="FFFFFF"/>
                </a:solidFill>
                <a:latin typeface="Calibri"/>
                <a:ea typeface="Calibri"/>
                <a:cs typeface="Calibri"/>
                <a:sym typeface="Calibri"/>
              </a:rPr>
              <a:t>Custom Dataset Evaluation</a:t>
            </a:r>
            <a:endParaRPr/>
          </a:p>
        </p:txBody>
      </p:sp>
      <p:sp>
        <p:nvSpPr>
          <p:cNvPr id="342" name="Google Shape;342;p9"/>
          <p:cNvSpPr txBox="1"/>
          <p:nvPr/>
        </p:nvSpPr>
        <p:spPr>
          <a:xfrm>
            <a:off x="365760" y="841248"/>
            <a:ext cx="1097280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009BDE"/>
                </a:solidFill>
                <a:latin typeface="Calibri"/>
                <a:ea typeface="Calibri"/>
                <a:cs typeface="Calibri"/>
                <a:sym typeface="Calibri"/>
              </a:rPr>
              <a:t>Testing generalisation on real hand-drawn cross-outs</a:t>
            </a:r>
            <a:endParaRPr/>
          </a:p>
        </p:txBody>
      </p:sp>
      <p:sp>
        <p:nvSpPr>
          <p:cNvPr id="343" name="Google Shape;343;p9"/>
          <p:cNvSpPr/>
          <p:nvPr/>
        </p:nvSpPr>
        <p:spPr>
          <a:xfrm>
            <a:off x="0" y="1353312"/>
            <a:ext cx="12188952" cy="5504688"/>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4" name="Google Shape;344;p9"/>
          <p:cNvSpPr txBox="1"/>
          <p:nvPr/>
        </p:nvSpPr>
        <p:spPr>
          <a:xfrm>
            <a:off x="365760" y="1481328"/>
            <a:ext cx="5303520" cy="34747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500" u="none" cap="none" strike="noStrike">
                <a:solidFill>
                  <a:srgbClr val="003578"/>
                </a:solidFill>
                <a:latin typeface="Calibri"/>
                <a:ea typeface="Calibri"/>
                <a:cs typeface="Calibri"/>
                <a:sym typeface="Calibri"/>
              </a:rPr>
              <a:t>Dataset Construction</a:t>
            </a:r>
            <a:endParaRPr/>
          </a:p>
        </p:txBody>
      </p:sp>
      <p:sp>
        <p:nvSpPr>
          <p:cNvPr id="345" name="Google Shape;345;p9"/>
          <p:cNvSpPr/>
          <p:nvPr/>
        </p:nvSpPr>
        <p:spPr>
          <a:xfrm>
            <a:off x="365760" y="1901952"/>
            <a:ext cx="320040" cy="548640"/>
          </a:xfrm>
          <a:prstGeom prst="rect">
            <a:avLst/>
          </a:prstGeom>
          <a:solidFill>
            <a:srgbClr val="00357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6" name="Google Shape;346;p9"/>
          <p:cNvSpPr txBox="1"/>
          <p:nvPr/>
        </p:nvSpPr>
        <p:spPr>
          <a:xfrm>
            <a:off x="365760" y="1901952"/>
            <a:ext cx="320040" cy="54864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400" u="none" cap="none" strike="noStrike">
                <a:solidFill>
                  <a:srgbClr val="FFFFFF"/>
                </a:solidFill>
                <a:latin typeface="Calibri"/>
                <a:ea typeface="Calibri"/>
                <a:cs typeface="Calibri"/>
                <a:sym typeface="Calibri"/>
              </a:rPr>
              <a:t>✍</a:t>
            </a:r>
            <a:endParaRPr/>
          </a:p>
        </p:txBody>
      </p:sp>
      <p:sp>
        <p:nvSpPr>
          <p:cNvPr id="347" name="Google Shape;347;p9"/>
          <p:cNvSpPr txBox="1"/>
          <p:nvPr/>
        </p:nvSpPr>
        <p:spPr>
          <a:xfrm>
            <a:off x="804672" y="1920240"/>
            <a:ext cx="4937760" cy="5943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300" u="none" cap="none" strike="noStrike">
                <a:solidFill>
                  <a:srgbClr val="333333"/>
                </a:solidFill>
                <a:latin typeface="Calibri"/>
                <a:ea typeface="Calibri"/>
                <a:cs typeface="Calibri"/>
                <a:sym typeface="Calibri"/>
              </a:rPr>
              <a:t>56 hand-written word images (8 styles × 7 words)</a:t>
            </a:r>
            <a:endParaRPr/>
          </a:p>
        </p:txBody>
      </p:sp>
      <p:sp>
        <p:nvSpPr>
          <p:cNvPr id="348" name="Google Shape;348;p9"/>
          <p:cNvSpPr/>
          <p:nvPr/>
        </p:nvSpPr>
        <p:spPr>
          <a:xfrm>
            <a:off x="365760" y="2770632"/>
            <a:ext cx="320040" cy="548640"/>
          </a:xfrm>
          <a:prstGeom prst="rect">
            <a:avLst/>
          </a:prstGeom>
          <a:solidFill>
            <a:srgbClr val="00357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9" name="Google Shape;349;p9"/>
          <p:cNvSpPr txBox="1"/>
          <p:nvPr/>
        </p:nvSpPr>
        <p:spPr>
          <a:xfrm>
            <a:off x="365760" y="2770632"/>
            <a:ext cx="320040" cy="54864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400" u="none" cap="none" strike="noStrike">
                <a:solidFill>
                  <a:srgbClr val="FFFFFF"/>
                </a:solidFill>
                <a:latin typeface="Calibri"/>
                <a:ea typeface="Calibri"/>
                <a:cs typeface="Calibri"/>
                <a:sym typeface="Calibri"/>
              </a:rPr>
              <a:t>📏</a:t>
            </a:r>
            <a:endParaRPr/>
          </a:p>
        </p:txBody>
      </p:sp>
      <p:sp>
        <p:nvSpPr>
          <p:cNvPr id="350" name="Google Shape;350;p9"/>
          <p:cNvSpPr txBox="1"/>
          <p:nvPr/>
        </p:nvSpPr>
        <p:spPr>
          <a:xfrm>
            <a:off x="804672" y="2788920"/>
            <a:ext cx="4937700" cy="594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300" u="none" cap="none" strike="noStrike">
                <a:solidFill>
                  <a:srgbClr val="333333"/>
                </a:solidFill>
                <a:latin typeface="Calibri"/>
                <a:ea typeface="Calibri"/>
                <a:cs typeface="Calibri"/>
                <a:sym typeface="Calibri"/>
              </a:rPr>
              <a:t>Word length: 4–7 letters</a:t>
            </a:r>
            <a:br>
              <a:rPr b="0" i="0" lang="en-US" sz="1300" u="none" cap="none" strike="noStrike">
                <a:solidFill>
                  <a:srgbClr val="333333"/>
                </a:solidFill>
                <a:latin typeface="Calibri"/>
                <a:ea typeface="Calibri"/>
                <a:cs typeface="Calibri"/>
                <a:sym typeface="Calibri"/>
              </a:rPr>
            </a:br>
            <a:r>
              <a:rPr b="0" i="0" lang="en-US" sz="1300" u="none" cap="none" strike="noStrike">
                <a:solidFill>
                  <a:srgbClr val="333333"/>
                </a:solidFill>
                <a:latin typeface="Calibri"/>
                <a:ea typeface="Calibri"/>
                <a:cs typeface="Calibri"/>
                <a:sym typeface="Calibri"/>
              </a:rPr>
              <a:t>(matches IAM distribution)</a:t>
            </a:r>
            <a:endParaRPr/>
          </a:p>
        </p:txBody>
      </p:sp>
      <p:sp>
        <p:nvSpPr>
          <p:cNvPr id="351" name="Google Shape;351;p9"/>
          <p:cNvSpPr/>
          <p:nvPr/>
        </p:nvSpPr>
        <p:spPr>
          <a:xfrm>
            <a:off x="365760" y="3639312"/>
            <a:ext cx="320040" cy="548640"/>
          </a:xfrm>
          <a:prstGeom prst="rect">
            <a:avLst/>
          </a:prstGeom>
          <a:solidFill>
            <a:srgbClr val="00357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52" name="Google Shape;352;p9"/>
          <p:cNvSpPr txBox="1"/>
          <p:nvPr/>
        </p:nvSpPr>
        <p:spPr>
          <a:xfrm>
            <a:off x="365760" y="3639312"/>
            <a:ext cx="320040" cy="54864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400" u="none" cap="none" strike="noStrike">
                <a:solidFill>
                  <a:srgbClr val="FFFFFF"/>
                </a:solidFill>
                <a:latin typeface="Calibri"/>
                <a:ea typeface="Calibri"/>
                <a:cs typeface="Calibri"/>
                <a:sym typeface="Calibri"/>
              </a:rPr>
              <a:t>🖊</a:t>
            </a:r>
            <a:endParaRPr/>
          </a:p>
        </p:txBody>
      </p:sp>
      <p:sp>
        <p:nvSpPr>
          <p:cNvPr id="353" name="Google Shape;353;p9"/>
          <p:cNvSpPr txBox="1"/>
          <p:nvPr/>
        </p:nvSpPr>
        <p:spPr>
          <a:xfrm>
            <a:off x="804672" y="3657600"/>
            <a:ext cx="4937760" cy="5943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300" u="none" cap="none" strike="noStrike">
                <a:solidFill>
                  <a:srgbClr val="333333"/>
                </a:solidFill>
                <a:latin typeface="Calibri"/>
                <a:ea typeface="Calibri"/>
                <a:cs typeface="Calibri"/>
                <a:sym typeface="Calibri"/>
              </a:rPr>
              <a:t>Physical ink-on-paper cross-outs</a:t>
            </a:r>
            <a:br>
              <a:rPr b="0" i="0" lang="en-US" sz="1300" u="none" cap="none" strike="noStrike">
                <a:solidFill>
                  <a:srgbClr val="333333"/>
                </a:solidFill>
                <a:latin typeface="Calibri"/>
                <a:ea typeface="Calibri"/>
                <a:cs typeface="Calibri"/>
                <a:sym typeface="Calibri"/>
              </a:rPr>
            </a:br>
            <a:r>
              <a:rPr b="0" i="0" lang="en-US" sz="1300" u="none" cap="none" strike="noStrike">
                <a:solidFill>
                  <a:srgbClr val="333333"/>
                </a:solidFill>
                <a:latin typeface="Calibri"/>
                <a:ea typeface="Calibri"/>
                <a:cs typeface="Calibri"/>
                <a:sym typeface="Calibri"/>
              </a:rPr>
              <a:t>(all 8 classes represented)</a:t>
            </a:r>
            <a:endParaRPr/>
          </a:p>
        </p:txBody>
      </p:sp>
      <p:sp>
        <p:nvSpPr>
          <p:cNvPr id="354" name="Google Shape;354;p9"/>
          <p:cNvSpPr/>
          <p:nvPr/>
        </p:nvSpPr>
        <p:spPr>
          <a:xfrm>
            <a:off x="365760" y="4507992"/>
            <a:ext cx="320040" cy="548640"/>
          </a:xfrm>
          <a:prstGeom prst="rect">
            <a:avLst/>
          </a:prstGeom>
          <a:solidFill>
            <a:srgbClr val="00357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55" name="Google Shape;355;p9"/>
          <p:cNvSpPr txBox="1"/>
          <p:nvPr/>
        </p:nvSpPr>
        <p:spPr>
          <a:xfrm>
            <a:off x="365760" y="4507992"/>
            <a:ext cx="320040" cy="54864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400" u="none" cap="none" strike="noStrike">
                <a:solidFill>
                  <a:srgbClr val="FFFFFF"/>
                </a:solidFill>
                <a:latin typeface="Calibri"/>
                <a:ea typeface="Calibri"/>
                <a:cs typeface="Calibri"/>
                <a:sym typeface="Calibri"/>
              </a:rPr>
              <a:t>📷</a:t>
            </a:r>
            <a:endParaRPr/>
          </a:p>
        </p:txBody>
      </p:sp>
      <p:sp>
        <p:nvSpPr>
          <p:cNvPr id="356" name="Google Shape;356;p9"/>
          <p:cNvSpPr txBox="1"/>
          <p:nvPr/>
        </p:nvSpPr>
        <p:spPr>
          <a:xfrm>
            <a:off x="804672" y="4526279"/>
            <a:ext cx="4937760" cy="5943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300" u="none" cap="none" strike="noStrike">
                <a:solidFill>
                  <a:srgbClr val="333333"/>
                </a:solidFill>
                <a:latin typeface="Calibri"/>
                <a:ea typeface="Calibri"/>
                <a:cs typeface="Calibri"/>
                <a:sym typeface="Calibri"/>
              </a:rPr>
              <a:t>Photographed — variable lighting,</a:t>
            </a:r>
            <a:br>
              <a:rPr b="0" i="0" lang="en-US" sz="1300" u="none" cap="none" strike="noStrike">
                <a:solidFill>
                  <a:srgbClr val="333333"/>
                </a:solidFill>
                <a:latin typeface="Calibri"/>
                <a:ea typeface="Calibri"/>
                <a:cs typeface="Calibri"/>
                <a:sym typeface="Calibri"/>
              </a:rPr>
            </a:br>
            <a:r>
              <a:rPr b="0" i="0" lang="en-US" sz="1300" u="none" cap="none" strike="noStrike">
                <a:solidFill>
                  <a:srgbClr val="333333"/>
                </a:solidFill>
                <a:latin typeface="Calibri"/>
                <a:ea typeface="Calibri"/>
                <a:cs typeface="Calibri"/>
                <a:sym typeface="Calibri"/>
              </a:rPr>
              <a:t>perspective &amp; background noise</a:t>
            </a:r>
            <a:endParaRPr/>
          </a:p>
        </p:txBody>
      </p:sp>
      <p:sp>
        <p:nvSpPr>
          <p:cNvPr id="357" name="Google Shape;357;p9"/>
          <p:cNvSpPr/>
          <p:nvPr/>
        </p:nvSpPr>
        <p:spPr>
          <a:xfrm>
            <a:off x="6035040" y="1417320"/>
            <a:ext cx="36576" cy="5120640"/>
          </a:xfrm>
          <a:prstGeom prst="rect">
            <a:avLst/>
          </a:prstGeom>
          <a:solidFill>
            <a:srgbClr val="009BD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58" name="Google Shape;358;p9"/>
          <p:cNvSpPr txBox="1"/>
          <p:nvPr/>
        </p:nvSpPr>
        <p:spPr>
          <a:xfrm>
            <a:off x="6309360" y="1481328"/>
            <a:ext cx="5486400" cy="34747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500" u="none" cap="none" strike="noStrike">
                <a:solidFill>
                  <a:srgbClr val="003578"/>
                </a:solidFill>
                <a:latin typeface="Calibri"/>
                <a:ea typeface="Calibri"/>
                <a:cs typeface="Calibri"/>
                <a:sym typeface="Calibri"/>
              </a:rPr>
              <a:t>Binary — SimpleCNN Results</a:t>
            </a:r>
            <a:endParaRPr/>
          </a:p>
        </p:txBody>
      </p:sp>
      <p:sp>
        <p:nvSpPr>
          <p:cNvPr id="359" name="Google Shape;359;p9"/>
          <p:cNvSpPr/>
          <p:nvPr/>
        </p:nvSpPr>
        <p:spPr>
          <a:xfrm>
            <a:off x="6309360" y="1901952"/>
            <a:ext cx="1417320" cy="365760"/>
          </a:xfrm>
          <a:prstGeom prst="rect">
            <a:avLst/>
          </a:prstGeom>
          <a:solidFill>
            <a:srgbClr val="00357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0" name="Google Shape;360;p9"/>
          <p:cNvSpPr txBox="1"/>
          <p:nvPr/>
        </p:nvSpPr>
        <p:spPr>
          <a:xfrm>
            <a:off x="6373368" y="1920240"/>
            <a:ext cx="1325880" cy="32918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1" name="Google Shape;361;p9"/>
          <p:cNvSpPr/>
          <p:nvPr/>
        </p:nvSpPr>
        <p:spPr>
          <a:xfrm>
            <a:off x="7863840" y="1901952"/>
            <a:ext cx="1645920" cy="365760"/>
          </a:xfrm>
          <a:prstGeom prst="rect">
            <a:avLst/>
          </a:prstGeom>
          <a:solidFill>
            <a:srgbClr val="00357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2" name="Google Shape;362;p9"/>
          <p:cNvSpPr txBox="1"/>
          <p:nvPr/>
        </p:nvSpPr>
        <p:spPr>
          <a:xfrm>
            <a:off x="7927848" y="1920240"/>
            <a:ext cx="1554480" cy="32918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300" u="none" cap="none" strike="noStrike">
                <a:solidFill>
                  <a:srgbClr val="FFFFFF"/>
                </a:solidFill>
                <a:latin typeface="Calibri"/>
                <a:ea typeface="Calibri"/>
                <a:cs typeface="Calibri"/>
                <a:sym typeface="Calibri"/>
              </a:rPr>
              <a:t>IAM Test</a:t>
            </a:r>
            <a:endParaRPr/>
          </a:p>
        </p:txBody>
      </p:sp>
      <p:sp>
        <p:nvSpPr>
          <p:cNvPr id="363" name="Google Shape;363;p9"/>
          <p:cNvSpPr/>
          <p:nvPr/>
        </p:nvSpPr>
        <p:spPr>
          <a:xfrm>
            <a:off x="9692640" y="1901952"/>
            <a:ext cx="1965960" cy="365760"/>
          </a:xfrm>
          <a:prstGeom prst="rect">
            <a:avLst/>
          </a:prstGeom>
          <a:solidFill>
            <a:srgbClr val="00357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4" name="Google Shape;364;p9"/>
          <p:cNvSpPr txBox="1"/>
          <p:nvPr/>
        </p:nvSpPr>
        <p:spPr>
          <a:xfrm>
            <a:off x="9756648" y="1920240"/>
            <a:ext cx="1874520" cy="32918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300" u="none" cap="none" strike="noStrike">
                <a:solidFill>
                  <a:srgbClr val="FFFFFF"/>
                </a:solidFill>
                <a:latin typeface="Calibri"/>
                <a:ea typeface="Calibri"/>
                <a:cs typeface="Calibri"/>
                <a:sym typeface="Calibri"/>
              </a:rPr>
              <a:t>Custom Dataset</a:t>
            </a:r>
            <a:endParaRPr/>
          </a:p>
        </p:txBody>
      </p:sp>
      <p:sp>
        <p:nvSpPr>
          <p:cNvPr id="365" name="Google Shape;365;p9"/>
          <p:cNvSpPr/>
          <p:nvPr/>
        </p:nvSpPr>
        <p:spPr>
          <a:xfrm>
            <a:off x="6309360" y="2286000"/>
            <a:ext cx="1417320" cy="365760"/>
          </a:xfrm>
          <a:prstGeom prst="rect">
            <a:avLst/>
          </a:prstGeom>
          <a:solidFill>
            <a:srgbClr val="FFFFFF"/>
          </a:solidFill>
          <a:ln cap="flat" cmpd="sng" w="9525">
            <a:solidFill>
              <a:srgbClr val="CCCCC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6" name="Google Shape;366;p9"/>
          <p:cNvSpPr txBox="1"/>
          <p:nvPr/>
        </p:nvSpPr>
        <p:spPr>
          <a:xfrm>
            <a:off x="6373368" y="2304288"/>
            <a:ext cx="1325880" cy="32918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300" u="none" cap="none" strike="noStrike">
                <a:solidFill>
                  <a:srgbClr val="333333"/>
                </a:solidFill>
                <a:latin typeface="Calibri"/>
                <a:ea typeface="Calibri"/>
                <a:cs typeface="Calibri"/>
                <a:sym typeface="Calibri"/>
              </a:rPr>
              <a:t>F1 Score</a:t>
            </a:r>
            <a:endParaRPr/>
          </a:p>
        </p:txBody>
      </p:sp>
      <p:sp>
        <p:nvSpPr>
          <p:cNvPr id="367" name="Google Shape;367;p9"/>
          <p:cNvSpPr/>
          <p:nvPr/>
        </p:nvSpPr>
        <p:spPr>
          <a:xfrm>
            <a:off x="7863840" y="2286000"/>
            <a:ext cx="1645920" cy="365760"/>
          </a:xfrm>
          <a:prstGeom prst="rect">
            <a:avLst/>
          </a:prstGeom>
          <a:solidFill>
            <a:srgbClr val="FFFFFF"/>
          </a:solidFill>
          <a:ln cap="flat" cmpd="sng" w="9525">
            <a:solidFill>
              <a:srgbClr val="CCCCC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8" name="Google Shape;368;p9"/>
          <p:cNvSpPr txBox="1"/>
          <p:nvPr/>
        </p:nvSpPr>
        <p:spPr>
          <a:xfrm>
            <a:off x="7927848" y="2304288"/>
            <a:ext cx="1554480" cy="32918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300" u="none" cap="none" strike="noStrike">
                <a:solidFill>
                  <a:srgbClr val="333333"/>
                </a:solidFill>
                <a:latin typeface="Calibri"/>
                <a:ea typeface="Calibri"/>
                <a:cs typeface="Calibri"/>
                <a:sym typeface="Calibri"/>
              </a:rPr>
              <a:t>0.9908</a:t>
            </a:r>
            <a:endParaRPr/>
          </a:p>
        </p:txBody>
      </p:sp>
      <p:sp>
        <p:nvSpPr>
          <p:cNvPr id="369" name="Google Shape;369;p9"/>
          <p:cNvSpPr/>
          <p:nvPr/>
        </p:nvSpPr>
        <p:spPr>
          <a:xfrm>
            <a:off x="9692640" y="2286000"/>
            <a:ext cx="1965960" cy="365760"/>
          </a:xfrm>
          <a:prstGeom prst="rect">
            <a:avLst/>
          </a:prstGeom>
          <a:solidFill>
            <a:srgbClr val="FFFFFF"/>
          </a:solidFill>
          <a:ln cap="flat" cmpd="sng" w="9525">
            <a:solidFill>
              <a:srgbClr val="CCCCC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0" name="Google Shape;370;p9"/>
          <p:cNvSpPr txBox="1"/>
          <p:nvPr/>
        </p:nvSpPr>
        <p:spPr>
          <a:xfrm>
            <a:off x="9756648" y="2304288"/>
            <a:ext cx="1874520" cy="32918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300" u="none" cap="none" strike="noStrike">
                <a:solidFill>
                  <a:srgbClr val="333333"/>
                </a:solidFill>
                <a:latin typeface="Calibri"/>
                <a:ea typeface="Calibri"/>
                <a:cs typeface="Calibri"/>
                <a:sym typeface="Calibri"/>
              </a:rPr>
              <a:t>0.9320</a:t>
            </a:r>
            <a:endParaRPr/>
          </a:p>
        </p:txBody>
      </p:sp>
      <p:sp>
        <p:nvSpPr>
          <p:cNvPr id="371" name="Google Shape;371;p9"/>
          <p:cNvSpPr/>
          <p:nvPr/>
        </p:nvSpPr>
        <p:spPr>
          <a:xfrm>
            <a:off x="6309360" y="2670048"/>
            <a:ext cx="1417320" cy="365760"/>
          </a:xfrm>
          <a:prstGeom prst="rect">
            <a:avLst/>
          </a:prstGeom>
          <a:solidFill>
            <a:srgbClr val="F2F2F2"/>
          </a:solidFill>
          <a:ln cap="flat" cmpd="sng" w="9525">
            <a:solidFill>
              <a:srgbClr val="CCCCC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2" name="Google Shape;372;p9"/>
          <p:cNvSpPr txBox="1"/>
          <p:nvPr/>
        </p:nvSpPr>
        <p:spPr>
          <a:xfrm>
            <a:off x="6373368" y="2688336"/>
            <a:ext cx="1325880" cy="32918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300" u="none" cap="none" strike="noStrike">
                <a:solidFill>
                  <a:srgbClr val="333333"/>
                </a:solidFill>
                <a:latin typeface="Calibri"/>
                <a:ea typeface="Calibri"/>
                <a:cs typeface="Calibri"/>
                <a:sym typeface="Calibri"/>
              </a:rPr>
              <a:t>Gen. Gap</a:t>
            </a:r>
            <a:endParaRPr/>
          </a:p>
        </p:txBody>
      </p:sp>
      <p:sp>
        <p:nvSpPr>
          <p:cNvPr id="373" name="Google Shape;373;p9"/>
          <p:cNvSpPr/>
          <p:nvPr/>
        </p:nvSpPr>
        <p:spPr>
          <a:xfrm>
            <a:off x="7863840" y="2670048"/>
            <a:ext cx="1645920" cy="365760"/>
          </a:xfrm>
          <a:prstGeom prst="rect">
            <a:avLst/>
          </a:prstGeom>
          <a:solidFill>
            <a:srgbClr val="F2F2F2"/>
          </a:solidFill>
          <a:ln cap="flat" cmpd="sng" w="9525">
            <a:solidFill>
              <a:srgbClr val="CCCCC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4" name="Google Shape;374;p9"/>
          <p:cNvSpPr txBox="1"/>
          <p:nvPr/>
        </p:nvSpPr>
        <p:spPr>
          <a:xfrm>
            <a:off x="7927848" y="2688336"/>
            <a:ext cx="1554480" cy="32918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300" u="none" cap="none" strike="noStrike">
                <a:solidFill>
                  <a:srgbClr val="333333"/>
                </a:solidFill>
                <a:latin typeface="Calibri"/>
                <a:ea typeface="Calibri"/>
                <a:cs typeface="Calibri"/>
                <a:sym typeface="Calibri"/>
              </a:rPr>
              <a:t>—</a:t>
            </a:r>
            <a:endParaRPr/>
          </a:p>
        </p:txBody>
      </p:sp>
      <p:sp>
        <p:nvSpPr>
          <p:cNvPr id="375" name="Google Shape;375;p9"/>
          <p:cNvSpPr/>
          <p:nvPr/>
        </p:nvSpPr>
        <p:spPr>
          <a:xfrm>
            <a:off x="9692640" y="2670048"/>
            <a:ext cx="1965960" cy="365760"/>
          </a:xfrm>
          <a:prstGeom prst="rect">
            <a:avLst/>
          </a:prstGeom>
          <a:solidFill>
            <a:srgbClr val="F2F2F2"/>
          </a:solidFill>
          <a:ln cap="flat" cmpd="sng" w="9525">
            <a:solidFill>
              <a:srgbClr val="CCCCC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6" name="Google Shape;376;p9"/>
          <p:cNvSpPr txBox="1"/>
          <p:nvPr/>
        </p:nvSpPr>
        <p:spPr>
          <a:xfrm>
            <a:off x="9756648" y="2688336"/>
            <a:ext cx="1874520" cy="32918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300" u="none" cap="none" strike="noStrike">
                <a:solidFill>
                  <a:srgbClr val="333333"/>
                </a:solidFill>
                <a:latin typeface="Calibri"/>
                <a:ea typeface="Calibri"/>
                <a:cs typeface="Calibri"/>
                <a:sym typeface="Calibri"/>
              </a:rPr>
              <a:t>0.0587</a:t>
            </a:r>
            <a:endParaRPr/>
          </a:p>
        </p:txBody>
      </p:sp>
      <p:sp>
        <p:nvSpPr>
          <p:cNvPr id="377" name="Google Shape;377;p9"/>
          <p:cNvSpPr/>
          <p:nvPr/>
        </p:nvSpPr>
        <p:spPr>
          <a:xfrm>
            <a:off x="6309360" y="3611880"/>
            <a:ext cx="5486400" cy="36576"/>
          </a:xfrm>
          <a:prstGeom prst="rect">
            <a:avLst/>
          </a:prstGeom>
          <a:solidFill>
            <a:srgbClr val="009BD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8" name="Google Shape;378;p9"/>
          <p:cNvSpPr txBox="1"/>
          <p:nvPr/>
        </p:nvSpPr>
        <p:spPr>
          <a:xfrm>
            <a:off x="6309360" y="3703320"/>
            <a:ext cx="5486400" cy="347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500" u="none" cap="none" strike="noStrike">
                <a:solidFill>
                  <a:srgbClr val="003578"/>
                </a:solidFill>
                <a:latin typeface="Calibri"/>
                <a:ea typeface="Calibri"/>
                <a:cs typeface="Calibri"/>
                <a:sym typeface="Calibri"/>
              </a:rPr>
              <a:t>Multi-class — Evaluation</a:t>
            </a:r>
            <a:endParaRPr/>
          </a:p>
        </p:txBody>
      </p:sp>
      <p:sp>
        <p:nvSpPr>
          <p:cNvPr id="379" name="Google Shape;379;p9"/>
          <p:cNvSpPr/>
          <p:nvPr/>
        </p:nvSpPr>
        <p:spPr>
          <a:xfrm>
            <a:off x="6309360" y="4114800"/>
            <a:ext cx="5486400" cy="914400"/>
          </a:xfrm>
          <a:prstGeom prst="rect">
            <a:avLst/>
          </a:prstGeom>
          <a:solidFill>
            <a:srgbClr val="FFF8E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0" name="Google Shape;380;p9"/>
          <p:cNvSpPr/>
          <p:nvPr/>
        </p:nvSpPr>
        <p:spPr>
          <a:xfrm>
            <a:off x="6309360" y="4114800"/>
            <a:ext cx="54864" cy="914400"/>
          </a:xfrm>
          <a:prstGeom prst="rect">
            <a:avLst/>
          </a:prstGeom>
          <a:solidFill>
            <a:srgbClr val="FFA50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1" name="Google Shape;381;p9"/>
          <p:cNvSpPr txBox="1"/>
          <p:nvPr/>
        </p:nvSpPr>
        <p:spPr>
          <a:xfrm>
            <a:off x="6446520" y="4187952"/>
            <a:ext cx="5212200" cy="347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300" u="none" cap="none" strike="noStrike">
                <a:solidFill>
                  <a:srgbClr val="995500"/>
                </a:solidFill>
                <a:latin typeface="Calibri"/>
                <a:ea typeface="Calibri"/>
                <a:cs typeface="Calibri"/>
                <a:sym typeface="Calibri"/>
              </a:rPr>
              <a:t>SimpleCNN  |  Macro-F1 = 0.485  |  Gen. Gap = 0.428</a:t>
            </a:r>
            <a:endParaRPr/>
          </a:p>
        </p:txBody>
      </p:sp>
      <p:sp>
        <p:nvSpPr>
          <p:cNvPr id="382" name="Google Shape;382;p9"/>
          <p:cNvSpPr txBox="1"/>
          <p:nvPr/>
        </p:nvSpPr>
        <p:spPr>
          <a:xfrm>
            <a:off x="6446520" y="4526280"/>
            <a:ext cx="52122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333333"/>
                </a:solidFill>
                <a:latin typeface="Calibri"/>
                <a:ea typeface="Calibri"/>
                <a:cs typeface="Calibri"/>
                <a:sym typeface="Calibri"/>
              </a:rPr>
              <a:t>Failures: WAVE &amp; ZIG_ZAG → CLEAN (faint strokes); SINGLE_LINE → DIAGONAL (natural angle). SCRATCH &amp; CLEAN perfect (F1=1.0).</a:t>
            </a:r>
            <a:endParaRPr/>
          </a:p>
        </p:txBody>
      </p:sp>
      <p:sp>
        <p:nvSpPr>
          <p:cNvPr id="383" name="Google Shape;383;p9"/>
          <p:cNvSpPr/>
          <p:nvPr/>
        </p:nvSpPr>
        <p:spPr>
          <a:xfrm>
            <a:off x="365760" y="5349240"/>
            <a:ext cx="11430000" cy="822960"/>
          </a:xfrm>
          <a:prstGeom prst="rect">
            <a:avLst/>
          </a:prstGeom>
          <a:solidFill>
            <a:srgbClr val="E8F4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4" name="Google Shape;384;p9"/>
          <p:cNvSpPr txBox="1"/>
          <p:nvPr/>
        </p:nvSpPr>
        <p:spPr>
          <a:xfrm>
            <a:off x="502920" y="5394960"/>
            <a:ext cx="11155680" cy="7315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003578"/>
                </a:solidFill>
                <a:latin typeface="Calibri"/>
                <a:ea typeface="Calibri"/>
                <a:cs typeface="Calibri"/>
                <a:sym typeface="Calibri"/>
              </a:rPr>
              <a:t>Domain Shift:  IAM = clean digital scans · Custom Dataset = real photos with lighting variation, perspective &amp; ink noise</a:t>
            </a:r>
            <a:br>
              <a:rPr b="0" i="0" lang="en-US" sz="1200" u="none" cap="none" strike="noStrike">
                <a:solidFill>
                  <a:srgbClr val="003578"/>
                </a:solidFill>
                <a:latin typeface="Calibri"/>
                <a:ea typeface="Calibri"/>
                <a:cs typeface="Calibri"/>
                <a:sym typeface="Calibri"/>
              </a:rPr>
            </a:br>
            <a:r>
              <a:rPr b="0" i="0" lang="en-US" sz="1200" u="none" cap="none" strike="noStrike">
                <a:solidFill>
                  <a:srgbClr val="003578"/>
                </a:solidFill>
                <a:latin typeface="Calibri"/>
                <a:ea typeface="Calibri"/>
                <a:cs typeface="Calibri"/>
                <a:sym typeface="Calibri"/>
              </a:rPr>
              <a:t>Binary gap of 0.059 is expected and acceptable. Augmentation (perspective, blur, jitter) partially mitigates this.</a:t>
            </a:r>
            <a:endParaRPr/>
          </a:p>
        </p:txBody>
      </p:sp>
      <p:sp>
        <p:nvSpPr>
          <p:cNvPr id="385" name="Google Shape;385;p9"/>
          <p:cNvSpPr/>
          <p:nvPr/>
        </p:nvSpPr>
        <p:spPr>
          <a:xfrm>
            <a:off x="0" y="6537960"/>
            <a:ext cx="12188952" cy="320040"/>
          </a:xfrm>
          <a:prstGeom prst="rect">
            <a:avLst/>
          </a:prstGeom>
          <a:solidFill>
            <a:srgbClr val="00357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6" name="Google Shape;386;p9"/>
          <p:cNvSpPr txBox="1"/>
          <p:nvPr/>
        </p:nvSpPr>
        <p:spPr>
          <a:xfrm>
            <a:off x="274320" y="6556248"/>
            <a:ext cx="11613000" cy="246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000" u="none" cap="none" strike="noStrike">
                <a:solidFill>
                  <a:srgbClr val="FFFFFF"/>
                </a:solidFill>
                <a:latin typeface="Calibri"/>
                <a:ea typeface="Calibri"/>
                <a:cs typeface="Calibri"/>
                <a:sym typeface="Calibri"/>
              </a:rPr>
              <a:t>D7047E Advanced Deep Learning  |  Group 14  |  LTU 2026 | </a:t>
            </a:r>
            <a:r>
              <a:rPr lang="en-US" sz="1000">
                <a:solidFill>
                  <a:srgbClr val="FFFFFF"/>
                </a:solidFill>
                <a:latin typeface="Calibri"/>
                <a:ea typeface="Calibri"/>
                <a:cs typeface="Calibri"/>
                <a:sym typeface="Calibri"/>
              </a:rPr>
              <a:t>C</a:t>
            </a:r>
            <a:endParaRPr/>
          </a:p>
        </p:txBody>
      </p:sp>
      <p:pic>
        <p:nvPicPr>
          <p:cNvPr descr="custom50_mc_all_cm.png" id="387" name="Google Shape;387;p9"/>
          <p:cNvPicPr preferRelativeResize="0"/>
          <p:nvPr/>
        </p:nvPicPr>
        <p:blipFill rotWithShape="1">
          <a:blip r:embed="rId3">
            <a:alphaModFix/>
          </a:blip>
          <a:srcRect b="0" l="0" r="0" t="0"/>
          <a:stretch/>
        </p:blipFill>
        <p:spPr>
          <a:xfrm>
            <a:off x="3594625" y="3078113"/>
            <a:ext cx="2331100" cy="221053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10"/>
          <p:cNvSpPr/>
          <p:nvPr/>
        </p:nvSpPr>
        <p:spPr>
          <a:xfrm>
            <a:off x="0" y="0"/>
            <a:ext cx="12188952" cy="6858000"/>
          </a:xfrm>
          <a:prstGeom prst="rect">
            <a:avLst/>
          </a:prstGeom>
          <a:solidFill>
            <a:srgbClr val="00357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93" name="Google Shape;393;p10"/>
          <p:cNvSpPr/>
          <p:nvPr/>
        </p:nvSpPr>
        <p:spPr>
          <a:xfrm>
            <a:off x="0" y="4754880"/>
            <a:ext cx="12188952" cy="2103120"/>
          </a:xfrm>
          <a:prstGeom prst="rect">
            <a:avLst/>
          </a:prstGeom>
          <a:solidFill>
            <a:srgbClr val="00285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94" name="Google Shape;394;p10"/>
          <p:cNvSpPr/>
          <p:nvPr/>
        </p:nvSpPr>
        <p:spPr>
          <a:xfrm>
            <a:off x="0" y="2743200"/>
            <a:ext cx="12188952" cy="54864"/>
          </a:xfrm>
          <a:prstGeom prst="rect">
            <a:avLst/>
          </a:prstGeom>
          <a:solidFill>
            <a:srgbClr val="009BDE"/>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95" name="Google Shape;395;p10"/>
          <p:cNvSpPr txBox="1"/>
          <p:nvPr/>
        </p:nvSpPr>
        <p:spPr>
          <a:xfrm>
            <a:off x="731520" y="274320"/>
            <a:ext cx="10698480" cy="5943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000" u="none" cap="none" strike="noStrike">
                <a:solidFill>
                  <a:srgbClr val="FFFFFF"/>
                </a:solidFill>
                <a:latin typeface="Calibri"/>
                <a:ea typeface="Calibri"/>
                <a:cs typeface="Calibri"/>
                <a:sym typeface="Calibri"/>
              </a:rPr>
              <a:t>Conclusions</a:t>
            </a:r>
            <a:endParaRPr/>
          </a:p>
        </p:txBody>
      </p:sp>
      <p:sp>
        <p:nvSpPr>
          <p:cNvPr id="396" name="Google Shape;396;p10"/>
          <p:cNvSpPr txBox="1"/>
          <p:nvPr/>
        </p:nvSpPr>
        <p:spPr>
          <a:xfrm>
            <a:off x="731520" y="868680"/>
            <a:ext cx="10698480" cy="34747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FFFFFF"/>
                </a:solidFill>
                <a:latin typeface="Calibri"/>
                <a:ea typeface="Calibri"/>
                <a:cs typeface="Calibri"/>
                <a:sym typeface="Calibri"/>
              </a:rPr>
              <a:t>✓  SimpleCNN — fast-converging binary detector (IAM F1 = 0.991, Custom Dataset F1 = 0.932)</a:t>
            </a:r>
            <a:endParaRPr/>
          </a:p>
        </p:txBody>
      </p:sp>
      <p:sp>
        <p:nvSpPr>
          <p:cNvPr id="397" name="Google Shape;397;p10"/>
          <p:cNvSpPr txBox="1"/>
          <p:nvPr/>
        </p:nvSpPr>
        <p:spPr>
          <a:xfrm>
            <a:off x="731520" y="1243584"/>
            <a:ext cx="10698480" cy="34747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FFFFFF"/>
                </a:solidFill>
                <a:latin typeface="Calibri"/>
                <a:ea typeface="Calibri"/>
                <a:cs typeface="Calibri"/>
                <a:sym typeface="Calibri"/>
              </a:rPr>
              <a:t>✓  SimpleCNN — multi-class classifier (IAM F1 = 0.913, Custom Dataset F1 = 0.485, gap = 0.428)</a:t>
            </a:r>
            <a:endParaRPr/>
          </a:p>
        </p:txBody>
      </p:sp>
      <p:sp>
        <p:nvSpPr>
          <p:cNvPr id="398" name="Google Shape;398;p10"/>
          <p:cNvSpPr txBox="1"/>
          <p:nvPr/>
        </p:nvSpPr>
        <p:spPr>
          <a:xfrm>
            <a:off x="731520" y="1618488"/>
            <a:ext cx="10698480" cy="34747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FFA500"/>
                </a:solidFill>
                <a:latin typeface="Calibri"/>
                <a:ea typeface="Calibri"/>
                <a:cs typeface="Calibri"/>
                <a:sym typeface="Calibri"/>
              </a:rPr>
              <a:t>⚠  ZIG_ZAG over-prediction: main error pattern — angular strokes visually ambiguous</a:t>
            </a:r>
            <a:endParaRPr/>
          </a:p>
        </p:txBody>
      </p:sp>
      <p:sp>
        <p:nvSpPr>
          <p:cNvPr id="399" name="Google Shape;399;p10"/>
          <p:cNvSpPr txBox="1"/>
          <p:nvPr/>
        </p:nvSpPr>
        <p:spPr>
          <a:xfrm>
            <a:off x="731520" y="1993391"/>
            <a:ext cx="10698480" cy="34747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FFA500"/>
                </a:solidFill>
                <a:latin typeface="Calibri"/>
                <a:ea typeface="Calibri"/>
                <a:cs typeface="Calibri"/>
                <a:sym typeface="Calibri"/>
              </a:rPr>
              <a:t>⚠  Domain shift: binary gap = 0.059 (acceptable) · multiclass gap = 0.428 (significant)</a:t>
            </a:r>
            <a:endParaRPr/>
          </a:p>
        </p:txBody>
      </p:sp>
      <p:sp>
        <p:nvSpPr>
          <p:cNvPr id="400" name="Google Shape;400;p10"/>
          <p:cNvSpPr txBox="1"/>
          <p:nvPr/>
        </p:nvSpPr>
        <p:spPr>
          <a:xfrm>
            <a:off x="731520" y="2368296"/>
            <a:ext cx="10698480" cy="34747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009BDE"/>
                </a:solidFill>
                <a:latin typeface="Calibri"/>
                <a:ea typeface="Calibri"/>
                <a:cs typeface="Calibri"/>
                <a:sym typeface="Calibri"/>
              </a:rPr>
              <a:t>→  Key finding: model learns synthetic geometry, not abstract crossout style — real-world generalisation requires augmented or real training data</a:t>
            </a:r>
            <a:endParaRPr/>
          </a:p>
        </p:txBody>
      </p:sp>
      <p:sp>
        <p:nvSpPr>
          <p:cNvPr id="401" name="Google Shape;401;p10"/>
          <p:cNvSpPr txBox="1"/>
          <p:nvPr/>
        </p:nvSpPr>
        <p:spPr>
          <a:xfrm>
            <a:off x="731520" y="2926080"/>
            <a:ext cx="10698480" cy="8229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FFFFFF"/>
                </a:solidFill>
                <a:latin typeface="Calibri"/>
                <a:ea typeface="Calibri"/>
                <a:cs typeface="Calibri"/>
                <a:sym typeface="Calibri"/>
              </a:rPr>
              <a:t>Thank You</a:t>
            </a:r>
            <a:endParaRPr/>
          </a:p>
        </p:txBody>
      </p:sp>
      <p:sp>
        <p:nvSpPr>
          <p:cNvPr id="402" name="Google Shape;402;p10"/>
          <p:cNvSpPr txBox="1"/>
          <p:nvPr/>
        </p:nvSpPr>
        <p:spPr>
          <a:xfrm>
            <a:off x="731520" y="5669280"/>
            <a:ext cx="10698600" cy="261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009BDE"/>
                </a:solidFill>
                <a:latin typeface="Calibri"/>
                <a:ea typeface="Calibri"/>
                <a:cs typeface="Calibri"/>
                <a:sym typeface="Calibri"/>
              </a:rPr>
              <a:t>D7047E Advanced Deep Learning  |  Group 14  |  Luleå University of Technology  |  May 2026 | N</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cp:coreProperties>
</file>